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76" r:id="rId6"/>
    <p:sldId id="279" r:id="rId7"/>
    <p:sldId id="262" r:id="rId8"/>
    <p:sldId id="263" r:id="rId9"/>
    <p:sldId id="271" r:id="rId10"/>
    <p:sldId id="277" r:id="rId11"/>
    <p:sldId id="278" r:id="rId12"/>
    <p:sldId id="272" r:id="rId13"/>
    <p:sldId id="270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83245" autoAdjust="0"/>
  </p:normalViewPr>
  <p:slideViewPr>
    <p:cSldViewPr snapToGrid="0">
      <p:cViewPr>
        <p:scale>
          <a:sx n="30" d="100"/>
          <a:sy n="30" d="100"/>
        </p:scale>
        <p:origin x="204" y="324"/>
      </p:cViewPr>
      <p:guideLst/>
    </p:cSldViewPr>
  </p:slideViewPr>
  <p:notesTextViewPr>
    <p:cViewPr>
      <p:scale>
        <a:sx n="1" d="1"/>
        <a:sy n="1" d="1"/>
      </p:scale>
      <p:origin x="0" y="-360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67ED6-940C-4B25-A3B0-3D1173FD430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59CF6-0B9A-40BC-B262-55A4902EAB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7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59CF6-0B9A-40BC-B262-55A4902EAB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92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 smtClean="0"/>
              <a:t>1. INTRODUÇÃO</a:t>
            </a:r>
          </a:p>
          <a:p>
            <a:r>
              <a:rPr lang="pt-BR" dirty="0" smtClean="0"/>
              <a:t>A </a:t>
            </a:r>
            <a:r>
              <a:rPr lang="pt-BR" b="1" dirty="0" smtClean="0"/>
              <a:t>Mini </a:t>
            </a:r>
            <a:r>
              <a:rPr lang="pt-BR" b="1" dirty="0" err="1" smtClean="0"/>
              <a:t>Dropbox</a:t>
            </a:r>
            <a:r>
              <a:rPr lang="pt-BR" b="1" dirty="0" smtClean="0"/>
              <a:t> Distribuída</a:t>
            </a:r>
            <a:r>
              <a:rPr lang="pt-BR" dirty="0" smtClean="0"/>
              <a:t> é uma aplicação web desenvolvida para permitir o armazenamento, organização e partilha de ficheiros de forma segura e eficiente. O projeto integra conceitos de </a:t>
            </a:r>
            <a:r>
              <a:rPr lang="pt-BR" b="1" dirty="0" smtClean="0"/>
              <a:t>Sistemas Distribuídos</a:t>
            </a:r>
            <a:r>
              <a:rPr lang="pt-BR" dirty="0" smtClean="0"/>
              <a:t> e </a:t>
            </a:r>
            <a:r>
              <a:rPr lang="pt-BR" b="1" dirty="0" smtClean="0"/>
              <a:t>Bases de Dados</a:t>
            </a:r>
            <a:r>
              <a:rPr lang="pt-BR" dirty="0" smtClean="0"/>
              <a:t>, aplicando mecanismos de replicação de dados, gestão de </a:t>
            </a:r>
            <a:r>
              <a:rPr lang="pt-BR" dirty="0" err="1" smtClean="0"/>
              <a:t>metadados</a:t>
            </a:r>
            <a:r>
              <a:rPr lang="pt-BR" dirty="0" smtClean="0"/>
              <a:t> e armazenamento distribuído para garantir disponibilidade e tolerância a falhas.</a:t>
            </a:r>
          </a:p>
          <a:p>
            <a:r>
              <a:rPr lang="pt-BR" b="1" dirty="0" smtClean="0"/>
              <a:t>1.1 Justificativa</a:t>
            </a:r>
          </a:p>
          <a:p>
            <a:r>
              <a:rPr lang="pt-BR" dirty="0" smtClean="0"/>
              <a:t>O projeto foi desenvolvido para demonstrar a aplicação prática dos conhecimentos adquiridos nas disciplinas de </a:t>
            </a:r>
            <a:r>
              <a:rPr lang="pt-BR" b="1" dirty="0" smtClean="0"/>
              <a:t>Sistemas Distribuídos</a:t>
            </a:r>
            <a:r>
              <a:rPr lang="pt-BR" dirty="0" smtClean="0"/>
              <a:t> e </a:t>
            </a:r>
            <a:r>
              <a:rPr lang="pt-BR" b="1" dirty="0" smtClean="0"/>
              <a:t>Bases de Dados</a:t>
            </a:r>
            <a:r>
              <a:rPr lang="pt-BR" dirty="0" smtClean="0"/>
              <a:t>. A integração destas áreas permite criar um sistema capaz de armazenar ficheiros, gerir informações dos utilizadores e assegurar a disponibilidade dos dados através da replicação entre servidores.</a:t>
            </a:r>
          </a:p>
          <a:p>
            <a:r>
              <a:rPr lang="pt-BR" b="1" dirty="0" smtClean="0"/>
              <a:t>1.2 Objetivos</a:t>
            </a:r>
          </a:p>
          <a:p>
            <a:r>
              <a:rPr lang="pt-BR" b="1" dirty="0" smtClean="0"/>
              <a:t>Objetivo Geral</a:t>
            </a:r>
          </a:p>
          <a:p>
            <a:r>
              <a:rPr lang="pt-BR" dirty="0" smtClean="0"/>
              <a:t>Desenvolver uma Mini </a:t>
            </a:r>
            <a:r>
              <a:rPr lang="pt-BR" dirty="0" err="1" smtClean="0"/>
              <a:t>Dropbox</a:t>
            </a:r>
            <a:r>
              <a:rPr lang="pt-BR" dirty="0" smtClean="0"/>
              <a:t> Distribuída que permita aos utilizadores armazenar, gerir e partilhar ficheiros de forma segura e disponível.</a:t>
            </a:r>
          </a:p>
          <a:p>
            <a:r>
              <a:rPr lang="pt-BR" b="1" dirty="0" smtClean="0"/>
              <a:t>Objetivos Específicos</a:t>
            </a:r>
          </a:p>
          <a:p>
            <a:r>
              <a:rPr lang="pt-BR" dirty="0" smtClean="0"/>
              <a:t>Implementar autenticação de utilizadores.</a:t>
            </a:r>
          </a:p>
          <a:p>
            <a:r>
              <a:rPr lang="pt-BR" dirty="0" smtClean="0"/>
              <a:t>Permitir upload, download, renomeação e eliminação de ficheiros.</a:t>
            </a:r>
          </a:p>
          <a:p>
            <a:r>
              <a:rPr lang="pt-BR" dirty="0" smtClean="0"/>
              <a:t>Organizar ficheiros em pastas.</a:t>
            </a:r>
          </a:p>
          <a:p>
            <a:r>
              <a:rPr lang="pt-BR" dirty="0" smtClean="0"/>
              <a:t>Implementar pesquisa e ordenação de ficheiros.</a:t>
            </a:r>
          </a:p>
          <a:p>
            <a:r>
              <a:rPr lang="pt-BR" dirty="0" smtClean="0"/>
              <a:t>Permitir a partilha de ficheiros através de links.</a:t>
            </a:r>
          </a:p>
          <a:p>
            <a:r>
              <a:rPr lang="pt-BR" dirty="0" smtClean="0"/>
              <a:t>Gerir os </a:t>
            </a:r>
            <a:r>
              <a:rPr lang="pt-BR" dirty="0" err="1" smtClean="0"/>
              <a:t>metadados</a:t>
            </a:r>
            <a:r>
              <a:rPr lang="pt-BR" dirty="0" smtClean="0"/>
              <a:t> dos ficheiros numa base de dados </a:t>
            </a:r>
            <a:r>
              <a:rPr lang="pt-BR" dirty="0" err="1" smtClean="0"/>
              <a:t>PostgreSQL</a:t>
            </a:r>
            <a:r>
              <a:rPr lang="pt-BR" dirty="0" smtClean="0"/>
              <a:t>.</a:t>
            </a:r>
          </a:p>
          <a:p>
            <a:r>
              <a:rPr lang="pt-BR" dirty="0" smtClean="0"/>
              <a:t>Garantir a replicação automática dos ficheiros entre servidores.</a:t>
            </a:r>
          </a:p>
          <a:p>
            <a:r>
              <a:rPr lang="pt-BR" b="1" dirty="0" smtClean="0"/>
              <a:t>2. APRESENTAÇÃO DA APLICAÇÃO</a:t>
            </a:r>
          </a:p>
          <a:p>
            <a:r>
              <a:rPr lang="pt-BR" dirty="0" smtClean="0"/>
              <a:t>A aplicação disponibiliza uma interface web onde os utilizadores podem criar uma conta, iniciar sessão e gerir os seus ficheiros. O sistema permite realizar operações como upload, download, organização em pastas, pesquisa, pré-visualização de ficheiros e partilha por link. Os ficheiros são armazenados no servidor, enquanto a base de dados gere todas as informações necessárias para o seu controlo e recuperação.</a:t>
            </a:r>
          </a:p>
          <a:p>
            <a:r>
              <a:rPr lang="pt-BR" b="1" dirty="0" smtClean="0"/>
              <a:t>3. CONCLUSÕES</a:t>
            </a:r>
          </a:p>
          <a:p>
            <a:r>
              <a:rPr lang="pt-BR" dirty="0" smtClean="0"/>
              <a:t>O desenvolvimento da Mini </a:t>
            </a:r>
            <a:r>
              <a:rPr lang="pt-BR" dirty="0" err="1" smtClean="0"/>
              <a:t>Dropbox</a:t>
            </a:r>
            <a:r>
              <a:rPr lang="pt-BR" dirty="0" smtClean="0"/>
              <a:t> Distribuída permitiu aplicar conhecimentos de desenvolvimento web, bases de dados e sistemas distribuídos. O projeto demonstra a importância da replicação de dados, da gestão eficiente da informação e da disponibilidade dos serviços, proporcionando uma solução funcional, segura e escalável para armazenamento de ficheiros.</a:t>
            </a:r>
          </a:p>
          <a:p>
            <a:r>
              <a:rPr lang="pt-BR" b="1" dirty="0" smtClean="0"/>
              <a:t>4. TECNOLOGIAS E FERRAMENTAS UTILIZADAS</a:t>
            </a:r>
          </a:p>
          <a:p>
            <a:r>
              <a:rPr lang="pt-BR" b="1" dirty="0" smtClean="0"/>
              <a:t>Linguagem de programação:</a:t>
            </a:r>
            <a:r>
              <a:rPr lang="pt-BR" dirty="0" smtClean="0"/>
              <a:t> Python</a:t>
            </a:r>
          </a:p>
          <a:p>
            <a:r>
              <a:rPr lang="pt-BR" b="1" dirty="0" smtClean="0"/>
              <a:t>Framework </a:t>
            </a:r>
            <a:r>
              <a:rPr lang="pt-BR" b="1" dirty="0" err="1" smtClean="0"/>
              <a:t>Backend</a:t>
            </a:r>
            <a:r>
              <a:rPr lang="pt-BR" b="1" dirty="0" smtClean="0"/>
              <a:t>:</a:t>
            </a:r>
            <a:r>
              <a:rPr lang="pt-BR" dirty="0" smtClean="0"/>
              <a:t> </a:t>
            </a:r>
            <a:r>
              <a:rPr lang="pt-BR" dirty="0" err="1" smtClean="0"/>
              <a:t>Flask</a:t>
            </a:r>
            <a:endParaRPr lang="pt-BR" dirty="0" smtClean="0"/>
          </a:p>
          <a:p>
            <a:r>
              <a:rPr lang="pt-BR" b="1" dirty="0" smtClean="0"/>
              <a:t>Base de Dados:</a:t>
            </a:r>
            <a:r>
              <a:rPr lang="pt-BR" dirty="0" smtClean="0"/>
              <a:t> </a:t>
            </a:r>
            <a:r>
              <a:rPr lang="pt-BR" dirty="0" err="1" smtClean="0"/>
              <a:t>PostgreSQL</a:t>
            </a:r>
            <a:endParaRPr lang="pt-BR" dirty="0" smtClean="0"/>
          </a:p>
          <a:p>
            <a:r>
              <a:rPr lang="pt-BR" b="1" dirty="0" smtClean="0"/>
              <a:t>Extensão Espacial:</a:t>
            </a:r>
            <a:r>
              <a:rPr lang="pt-BR" dirty="0" smtClean="0"/>
              <a:t> </a:t>
            </a:r>
            <a:r>
              <a:rPr lang="pt-BR" dirty="0" err="1" smtClean="0"/>
              <a:t>PostGIS</a:t>
            </a:r>
            <a:endParaRPr lang="pt-BR" dirty="0" smtClean="0"/>
          </a:p>
          <a:p>
            <a:r>
              <a:rPr lang="pt-BR" b="1" dirty="0" err="1" smtClean="0"/>
              <a:t>Frontend</a:t>
            </a:r>
            <a:r>
              <a:rPr lang="pt-BR" b="1" dirty="0" smtClean="0"/>
              <a:t>:</a:t>
            </a:r>
            <a:r>
              <a:rPr lang="pt-BR" dirty="0" smtClean="0"/>
              <a:t> HTML, CSS e </a:t>
            </a:r>
            <a:r>
              <a:rPr lang="pt-BR" dirty="0" err="1" smtClean="0"/>
              <a:t>JavaScript</a:t>
            </a:r>
            <a:endParaRPr lang="pt-BR" dirty="0" smtClean="0"/>
          </a:p>
          <a:p>
            <a:r>
              <a:rPr lang="pt-BR" b="1" dirty="0" smtClean="0"/>
              <a:t>Comunicação entre servidores:</a:t>
            </a:r>
            <a:r>
              <a:rPr lang="pt-BR" dirty="0" smtClean="0"/>
              <a:t> API REST</a:t>
            </a:r>
          </a:p>
          <a:p>
            <a:r>
              <a:rPr lang="pt-BR" b="1" dirty="0" smtClean="0"/>
              <a:t>Servidor Web:</a:t>
            </a:r>
            <a:r>
              <a:rPr lang="pt-BR" dirty="0" smtClean="0"/>
              <a:t> </a:t>
            </a:r>
            <a:r>
              <a:rPr lang="pt-BR" dirty="0" err="1" smtClean="0"/>
              <a:t>Flask</a:t>
            </a:r>
            <a:r>
              <a:rPr lang="pt-BR" dirty="0" smtClean="0"/>
              <a:t> </a:t>
            </a:r>
            <a:r>
              <a:rPr lang="pt-BR" dirty="0" err="1" smtClean="0"/>
              <a:t>Development</a:t>
            </a:r>
            <a:r>
              <a:rPr lang="pt-BR" dirty="0" smtClean="0"/>
              <a:t> Server</a:t>
            </a:r>
          </a:p>
          <a:p>
            <a:r>
              <a:rPr lang="pt-BR" b="1" dirty="0" smtClean="0"/>
              <a:t>Controlo de versões:</a:t>
            </a:r>
            <a:r>
              <a:rPr lang="pt-BR" dirty="0" smtClean="0"/>
              <a:t> </a:t>
            </a:r>
            <a:r>
              <a:rPr lang="pt-BR" dirty="0" err="1" smtClean="0"/>
              <a:t>Git</a:t>
            </a:r>
            <a:r>
              <a:rPr lang="pt-BR" dirty="0" smtClean="0"/>
              <a:t> e GitHub (opcional)</a:t>
            </a:r>
          </a:p>
          <a:p>
            <a:r>
              <a:rPr lang="pt-BR" b="1" dirty="0" smtClean="0"/>
              <a:t>Ambiente de Desenvolvimento:</a:t>
            </a:r>
            <a:r>
              <a:rPr lang="pt-BR" dirty="0" smtClean="0"/>
              <a:t> Visual Studio </a:t>
            </a:r>
            <a:r>
              <a:rPr lang="pt-BR" dirty="0" err="1" smtClean="0"/>
              <a:t>Code</a:t>
            </a:r>
            <a:endParaRPr lang="pt-BR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59CF6-0B9A-40BC-B262-55A4902EAB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39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 smtClean="0"/>
              <a:t>1. INTRODUÇÃO</a:t>
            </a:r>
          </a:p>
          <a:p>
            <a:r>
              <a:rPr lang="pt-BR" dirty="0" smtClean="0"/>
              <a:t>A </a:t>
            </a:r>
            <a:r>
              <a:rPr lang="pt-BR" b="1" dirty="0" smtClean="0"/>
              <a:t>Mini </a:t>
            </a:r>
            <a:r>
              <a:rPr lang="pt-BR" b="1" dirty="0" err="1" smtClean="0"/>
              <a:t>Dropbox</a:t>
            </a:r>
            <a:r>
              <a:rPr lang="pt-BR" b="1" dirty="0" smtClean="0"/>
              <a:t> Distribuída</a:t>
            </a:r>
            <a:r>
              <a:rPr lang="pt-BR" dirty="0" smtClean="0"/>
              <a:t> é uma aplicação web desenvolvida para permitir o armazenamento, organização e partilha de ficheiros de forma segura e eficiente. O projeto integra conceitos de </a:t>
            </a:r>
            <a:r>
              <a:rPr lang="pt-BR" b="1" dirty="0" smtClean="0"/>
              <a:t>Sistemas Distribuídos</a:t>
            </a:r>
            <a:r>
              <a:rPr lang="pt-BR" dirty="0" smtClean="0"/>
              <a:t> e </a:t>
            </a:r>
            <a:r>
              <a:rPr lang="pt-BR" b="1" dirty="0" smtClean="0"/>
              <a:t>Bases de Dados</a:t>
            </a:r>
            <a:r>
              <a:rPr lang="pt-BR" dirty="0" smtClean="0"/>
              <a:t>, aplicando mecanismos de replicação de dados, gestão de </a:t>
            </a:r>
            <a:r>
              <a:rPr lang="pt-BR" dirty="0" err="1" smtClean="0"/>
              <a:t>metadados</a:t>
            </a:r>
            <a:r>
              <a:rPr lang="pt-BR" dirty="0" smtClean="0"/>
              <a:t> e armazenamento distribuído para garantir disponibilidade e tolerância a falhas.</a:t>
            </a:r>
          </a:p>
          <a:p>
            <a:r>
              <a:rPr lang="pt-BR" b="1" dirty="0" smtClean="0"/>
              <a:t>1.1 Justificativa</a:t>
            </a:r>
          </a:p>
          <a:p>
            <a:r>
              <a:rPr lang="pt-BR" dirty="0" smtClean="0"/>
              <a:t>O projeto foi desenvolvido para demonstrar a aplicação prática dos conhecimentos adquiridos nas disciplinas de </a:t>
            </a:r>
            <a:r>
              <a:rPr lang="pt-BR" b="1" dirty="0" smtClean="0"/>
              <a:t>Sistemas Distribuídos</a:t>
            </a:r>
            <a:r>
              <a:rPr lang="pt-BR" dirty="0" smtClean="0"/>
              <a:t> e </a:t>
            </a:r>
            <a:r>
              <a:rPr lang="pt-BR" b="1" dirty="0" smtClean="0"/>
              <a:t>Bases de Dados</a:t>
            </a:r>
            <a:r>
              <a:rPr lang="pt-BR" dirty="0" smtClean="0"/>
              <a:t>. A integração destas áreas permite criar um sistema capaz de armazenar ficheiros, gerir informações dos utilizadores e assegurar a disponibilidade dos dados através da replicação entre servidores.</a:t>
            </a:r>
          </a:p>
          <a:p>
            <a:r>
              <a:rPr lang="pt-BR" b="1" dirty="0" smtClean="0"/>
              <a:t>1.2 Objetivos</a:t>
            </a:r>
          </a:p>
          <a:p>
            <a:r>
              <a:rPr lang="pt-BR" b="1" dirty="0" smtClean="0"/>
              <a:t>Objetivo Geral</a:t>
            </a:r>
          </a:p>
          <a:p>
            <a:r>
              <a:rPr lang="pt-BR" dirty="0" smtClean="0"/>
              <a:t>Desenvolver uma Mini </a:t>
            </a:r>
            <a:r>
              <a:rPr lang="pt-BR" dirty="0" err="1" smtClean="0"/>
              <a:t>Dropbox</a:t>
            </a:r>
            <a:r>
              <a:rPr lang="pt-BR" dirty="0" smtClean="0"/>
              <a:t> Distribuída que permita aos utilizadores armazenar, gerir e partilhar ficheiros de forma segura e disponível.</a:t>
            </a:r>
          </a:p>
          <a:p>
            <a:r>
              <a:rPr lang="pt-BR" b="1" dirty="0" smtClean="0"/>
              <a:t>Objetivos Específicos</a:t>
            </a:r>
          </a:p>
          <a:p>
            <a:r>
              <a:rPr lang="pt-BR" dirty="0" smtClean="0"/>
              <a:t>Implementar autenticação de utilizadores.</a:t>
            </a:r>
          </a:p>
          <a:p>
            <a:r>
              <a:rPr lang="pt-BR" dirty="0" smtClean="0"/>
              <a:t>Permitir upload, download, renomeação e eliminação de ficheiros.</a:t>
            </a:r>
          </a:p>
          <a:p>
            <a:r>
              <a:rPr lang="pt-BR" dirty="0" smtClean="0"/>
              <a:t>Organizar ficheiros em pastas.</a:t>
            </a:r>
          </a:p>
          <a:p>
            <a:r>
              <a:rPr lang="pt-BR" dirty="0" smtClean="0"/>
              <a:t>Implementar pesquisa e ordenação de ficheiros.</a:t>
            </a:r>
          </a:p>
          <a:p>
            <a:r>
              <a:rPr lang="pt-BR" dirty="0" smtClean="0"/>
              <a:t>Permitir a partilha de ficheiros através de links.</a:t>
            </a:r>
          </a:p>
          <a:p>
            <a:r>
              <a:rPr lang="pt-BR" dirty="0" smtClean="0"/>
              <a:t>Gerir os </a:t>
            </a:r>
            <a:r>
              <a:rPr lang="pt-BR" dirty="0" err="1" smtClean="0"/>
              <a:t>metadados</a:t>
            </a:r>
            <a:r>
              <a:rPr lang="pt-BR" dirty="0" smtClean="0"/>
              <a:t> dos ficheiros numa base de dados </a:t>
            </a:r>
            <a:r>
              <a:rPr lang="pt-BR" dirty="0" err="1" smtClean="0"/>
              <a:t>PostgreSQL</a:t>
            </a:r>
            <a:r>
              <a:rPr lang="pt-BR" dirty="0" smtClean="0"/>
              <a:t>.</a:t>
            </a:r>
          </a:p>
          <a:p>
            <a:r>
              <a:rPr lang="pt-BR" dirty="0" smtClean="0"/>
              <a:t>Garantir a replicação automática dos ficheiros entre servidores.</a:t>
            </a:r>
          </a:p>
          <a:p>
            <a:r>
              <a:rPr lang="pt-BR" b="1" dirty="0" smtClean="0"/>
              <a:t>2. APRESENTAÇÃO DA APLICAÇÃO</a:t>
            </a:r>
          </a:p>
          <a:p>
            <a:r>
              <a:rPr lang="pt-BR" dirty="0" smtClean="0"/>
              <a:t>A aplicação disponibiliza uma interface web onde os utilizadores podem criar uma conta, iniciar sessão e gerir os seus ficheiros. O sistema permite realizar operações como upload, download, organização em pastas, pesquisa, pré-visualização de ficheiros e partilha por link. Os ficheiros são armazenados no servidor, enquanto a base de dados gere todas as informações necessárias para o seu controlo e recuperação.</a:t>
            </a:r>
          </a:p>
          <a:p>
            <a:r>
              <a:rPr lang="pt-BR" b="1" dirty="0" smtClean="0"/>
              <a:t>3. CONCLUSÕES</a:t>
            </a:r>
          </a:p>
          <a:p>
            <a:r>
              <a:rPr lang="pt-BR" dirty="0" smtClean="0"/>
              <a:t>O desenvolvimento da Mini </a:t>
            </a:r>
            <a:r>
              <a:rPr lang="pt-BR" dirty="0" err="1" smtClean="0"/>
              <a:t>Dropbox</a:t>
            </a:r>
            <a:r>
              <a:rPr lang="pt-BR" dirty="0" smtClean="0"/>
              <a:t> Distribuída permitiu aplicar conhecimentos de desenvolvimento web, bases de dados e sistemas distribuídos. O projeto demonstra a importância da replicação de dados, da gestão eficiente da informação e da disponibilidade dos serviços, proporcionando uma solução funcional, segura e escalável para armazenamento de ficheiros.</a:t>
            </a:r>
          </a:p>
          <a:p>
            <a:r>
              <a:rPr lang="pt-BR" b="1" dirty="0" smtClean="0"/>
              <a:t>4. TECNOLOGIAS E FERRAMENTAS UTILIZADAS</a:t>
            </a:r>
          </a:p>
          <a:p>
            <a:r>
              <a:rPr lang="pt-BR" b="1" dirty="0" smtClean="0"/>
              <a:t>Linguagem de programação:</a:t>
            </a:r>
            <a:r>
              <a:rPr lang="pt-BR" dirty="0" smtClean="0"/>
              <a:t> Python</a:t>
            </a:r>
          </a:p>
          <a:p>
            <a:r>
              <a:rPr lang="pt-BR" b="1" dirty="0" smtClean="0"/>
              <a:t>Framework </a:t>
            </a:r>
            <a:r>
              <a:rPr lang="pt-BR" b="1" dirty="0" err="1" smtClean="0"/>
              <a:t>Backend</a:t>
            </a:r>
            <a:r>
              <a:rPr lang="pt-BR" b="1" dirty="0" smtClean="0"/>
              <a:t>:</a:t>
            </a:r>
            <a:r>
              <a:rPr lang="pt-BR" dirty="0" smtClean="0"/>
              <a:t> </a:t>
            </a:r>
            <a:r>
              <a:rPr lang="pt-BR" dirty="0" err="1" smtClean="0"/>
              <a:t>Flask</a:t>
            </a:r>
            <a:endParaRPr lang="pt-BR" dirty="0" smtClean="0"/>
          </a:p>
          <a:p>
            <a:r>
              <a:rPr lang="pt-BR" b="1" dirty="0" smtClean="0"/>
              <a:t>Base de Dados:</a:t>
            </a:r>
            <a:r>
              <a:rPr lang="pt-BR" dirty="0" smtClean="0"/>
              <a:t> </a:t>
            </a:r>
            <a:r>
              <a:rPr lang="pt-BR" dirty="0" err="1" smtClean="0"/>
              <a:t>PostgreSQL</a:t>
            </a:r>
            <a:endParaRPr lang="pt-BR" dirty="0" smtClean="0"/>
          </a:p>
          <a:p>
            <a:r>
              <a:rPr lang="pt-BR" b="1" dirty="0" smtClean="0"/>
              <a:t>Extensão Espacial:</a:t>
            </a:r>
            <a:r>
              <a:rPr lang="pt-BR" dirty="0" smtClean="0"/>
              <a:t> </a:t>
            </a:r>
            <a:r>
              <a:rPr lang="pt-BR" dirty="0" err="1" smtClean="0"/>
              <a:t>PostGIS</a:t>
            </a:r>
            <a:endParaRPr lang="pt-BR" dirty="0" smtClean="0"/>
          </a:p>
          <a:p>
            <a:r>
              <a:rPr lang="pt-BR" b="1" dirty="0" err="1" smtClean="0"/>
              <a:t>Frontend</a:t>
            </a:r>
            <a:r>
              <a:rPr lang="pt-BR" b="1" dirty="0" smtClean="0"/>
              <a:t>:</a:t>
            </a:r>
            <a:r>
              <a:rPr lang="pt-BR" dirty="0" smtClean="0"/>
              <a:t> HTML, CSS e </a:t>
            </a:r>
            <a:r>
              <a:rPr lang="pt-BR" dirty="0" err="1" smtClean="0"/>
              <a:t>JavaScript</a:t>
            </a:r>
            <a:endParaRPr lang="pt-BR" dirty="0" smtClean="0"/>
          </a:p>
          <a:p>
            <a:r>
              <a:rPr lang="pt-BR" b="1" dirty="0" smtClean="0"/>
              <a:t>Comunicação entre servidores:</a:t>
            </a:r>
            <a:r>
              <a:rPr lang="pt-BR" dirty="0" smtClean="0"/>
              <a:t> API REST</a:t>
            </a:r>
          </a:p>
          <a:p>
            <a:r>
              <a:rPr lang="pt-BR" b="1" dirty="0" smtClean="0"/>
              <a:t>Servidor Web:</a:t>
            </a:r>
            <a:r>
              <a:rPr lang="pt-BR" dirty="0" smtClean="0"/>
              <a:t> </a:t>
            </a:r>
            <a:r>
              <a:rPr lang="pt-BR" dirty="0" err="1" smtClean="0"/>
              <a:t>Flask</a:t>
            </a:r>
            <a:r>
              <a:rPr lang="pt-BR" dirty="0" smtClean="0"/>
              <a:t> </a:t>
            </a:r>
            <a:r>
              <a:rPr lang="pt-BR" dirty="0" err="1" smtClean="0"/>
              <a:t>Development</a:t>
            </a:r>
            <a:r>
              <a:rPr lang="pt-BR" dirty="0" smtClean="0"/>
              <a:t> Server</a:t>
            </a:r>
          </a:p>
          <a:p>
            <a:r>
              <a:rPr lang="pt-BR" b="1" dirty="0" smtClean="0"/>
              <a:t>Controlo de versões:</a:t>
            </a:r>
            <a:r>
              <a:rPr lang="pt-BR" dirty="0" smtClean="0"/>
              <a:t> </a:t>
            </a:r>
            <a:r>
              <a:rPr lang="pt-BR" dirty="0" err="1" smtClean="0"/>
              <a:t>Git</a:t>
            </a:r>
            <a:r>
              <a:rPr lang="pt-BR" dirty="0" smtClean="0"/>
              <a:t> e GitHub (opcional)</a:t>
            </a:r>
          </a:p>
          <a:p>
            <a:r>
              <a:rPr lang="pt-BR" b="1" dirty="0" smtClean="0"/>
              <a:t>Ambiente de Desenvolvimento:</a:t>
            </a:r>
            <a:r>
              <a:rPr lang="pt-BR" dirty="0" smtClean="0"/>
              <a:t> Visual Studio </a:t>
            </a:r>
            <a:r>
              <a:rPr lang="pt-BR" dirty="0" err="1" smtClean="0"/>
              <a:t>Code</a:t>
            </a:r>
            <a:endParaRPr lang="pt-BR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59CF6-0B9A-40BC-B262-55A4902EAB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 smtClean="0"/>
              <a:t>1. INTRODUÇÃO</a:t>
            </a:r>
          </a:p>
          <a:p>
            <a:r>
              <a:rPr lang="pt-BR" dirty="0" smtClean="0"/>
              <a:t>A </a:t>
            </a:r>
            <a:r>
              <a:rPr lang="pt-BR" b="1" dirty="0" smtClean="0"/>
              <a:t>Mini </a:t>
            </a:r>
            <a:r>
              <a:rPr lang="pt-BR" b="1" dirty="0" err="1" smtClean="0"/>
              <a:t>Dropbox</a:t>
            </a:r>
            <a:r>
              <a:rPr lang="pt-BR" b="1" dirty="0" smtClean="0"/>
              <a:t> Distribuída</a:t>
            </a:r>
            <a:r>
              <a:rPr lang="pt-BR" dirty="0" smtClean="0"/>
              <a:t> é uma aplicação web desenvolvida para permitir o armazenamento, organização e partilha de ficheiros de forma segura e eficiente. O projeto integra conceitos de </a:t>
            </a:r>
            <a:r>
              <a:rPr lang="pt-BR" b="1" dirty="0" smtClean="0"/>
              <a:t>Sistemas Distribuídos</a:t>
            </a:r>
            <a:r>
              <a:rPr lang="pt-BR" dirty="0" smtClean="0"/>
              <a:t> e </a:t>
            </a:r>
            <a:r>
              <a:rPr lang="pt-BR" b="1" dirty="0" smtClean="0"/>
              <a:t>Bases de Dados</a:t>
            </a:r>
            <a:r>
              <a:rPr lang="pt-BR" dirty="0" smtClean="0"/>
              <a:t>, aplicando mecanismos de replicação de dados, gestão de </a:t>
            </a:r>
            <a:r>
              <a:rPr lang="pt-BR" dirty="0" err="1" smtClean="0"/>
              <a:t>metadados</a:t>
            </a:r>
            <a:r>
              <a:rPr lang="pt-BR" dirty="0" smtClean="0"/>
              <a:t> e armazenamento distribuído para garantir disponibilidade e tolerância a falhas.</a:t>
            </a:r>
          </a:p>
          <a:p>
            <a:r>
              <a:rPr lang="pt-BR" b="1" dirty="0" smtClean="0"/>
              <a:t>1.1 Justificativa</a:t>
            </a:r>
          </a:p>
          <a:p>
            <a:r>
              <a:rPr lang="pt-BR" dirty="0" smtClean="0"/>
              <a:t>O projeto foi desenvolvido para demonstrar a aplicação prática dos conhecimentos adquiridos nas disciplinas de </a:t>
            </a:r>
            <a:r>
              <a:rPr lang="pt-BR" b="1" dirty="0" smtClean="0"/>
              <a:t>Sistemas Distribuídos</a:t>
            </a:r>
            <a:r>
              <a:rPr lang="pt-BR" dirty="0" smtClean="0"/>
              <a:t> e </a:t>
            </a:r>
            <a:r>
              <a:rPr lang="pt-BR" b="1" dirty="0" smtClean="0"/>
              <a:t>Bases de Dados</a:t>
            </a:r>
            <a:r>
              <a:rPr lang="pt-BR" dirty="0" smtClean="0"/>
              <a:t>. A integração destas áreas permite criar um sistema capaz de armazenar ficheiros, gerir informações dos utilizadores e assegurar a disponibilidade dos dados através da replicação entre servidores.</a:t>
            </a:r>
          </a:p>
          <a:p>
            <a:r>
              <a:rPr lang="pt-BR" b="1" dirty="0" smtClean="0"/>
              <a:t>1.2 Objetivos</a:t>
            </a:r>
          </a:p>
          <a:p>
            <a:r>
              <a:rPr lang="pt-BR" b="1" dirty="0" smtClean="0"/>
              <a:t>Objetivo Geral</a:t>
            </a:r>
          </a:p>
          <a:p>
            <a:r>
              <a:rPr lang="pt-BR" dirty="0" smtClean="0"/>
              <a:t>Desenvolver uma Mini </a:t>
            </a:r>
            <a:r>
              <a:rPr lang="pt-BR" dirty="0" err="1" smtClean="0"/>
              <a:t>Dropbox</a:t>
            </a:r>
            <a:r>
              <a:rPr lang="pt-BR" dirty="0" smtClean="0"/>
              <a:t> Distribuída que permita aos utilizadores armazenar, gerir e partilhar ficheiros de forma segura e disponível.</a:t>
            </a:r>
          </a:p>
          <a:p>
            <a:r>
              <a:rPr lang="pt-BR" b="1" dirty="0" smtClean="0"/>
              <a:t>Objetivos Específicos</a:t>
            </a:r>
          </a:p>
          <a:p>
            <a:r>
              <a:rPr lang="pt-BR" dirty="0" smtClean="0"/>
              <a:t>Implementar autenticação de utilizadores.</a:t>
            </a:r>
          </a:p>
          <a:p>
            <a:r>
              <a:rPr lang="pt-BR" dirty="0" smtClean="0"/>
              <a:t>Permitir upload, download, renomeação e eliminação de ficheiros.</a:t>
            </a:r>
          </a:p>
          <a:p>
            <a:r>
              <a:rPr lang="pt-BR" dirty="0" smtClean="0"/>
              <a:t>Organizar ficheiros em pastas.</a:t>
            </a:r>
          </a:p>
          <a:p>
            <a:r>
              <a:rPr lang="pt-BR" dirty="0" smtClean="0"/>
              <a:t>Implementar pesquisa e ordenação de ficheiros.</a:t>
            </a:r>
          </a:p>
          <a:p>
            <a:r>
              <a:rPr lang="pt-BR" dirty="0" smtClean="0"/>
              <a:t>Permitir a partilha de ficheiros através de links.</a:t>
            </a:r>
          </a:p>
          <a:p>
            <a:r>
              <a:rPr lang="pt-BR" dirty="0" smtClean="0"/>
              <a:t>Gerir os </a:t>
            </a:r>
            <a:r>
              <a:rPr lang="pt-BR" dirty="0" err="1" smtClean="0"/>
              <a:t>metadados</a:t>
            </a:r>
            <a:r>
              <a:rPr lang="pt-BR" dirty="0" smtClean="0"/>
              <a:t> dos ficheiros numa base de dados </a:t>
            </a:r>
            <a:r>
              <a:rPr lang="pt-BR" dirty="0" err="1" smtClean="0"/>
              <a:t>PostgreSQL</a:t>
            </a:r>
            <a:r>
              <a:rPr lang="pt-BR" dirty="0" smtClean="0"/>
              <a:t>.</a:t>
            </a:r>
          </a:p>
          <a:p>
            <a:r>
              <a:rPr lang="pt-BR" dirty="0" smtClean="0"/>
              <a:t>Garantir a replicação automática dos ficheiros entre servidores.</a:t>
            </a:r>
          </a:p>
          <a:p>
            <a:r>
              <a:rPr lang="pt-BR" b="1" dirty="0" smtClean="0"/>
              <a:t>2. APRESENTAÇÃO DA APLICAÇÃO</a:t>
            </a:r>
          </a:p>
          <a:p>
            <a:r>
              <a:rPr lang="pt-BR" dirty="0" smtClean="0"/>
              <a:t>A aplicação disponibiliza uma interface web onde os utilizadores podem criar uma conta, iniciar sessão e gerir os seus ficheiros. O sistema permite realizar operações como upload, download, organização em pastas, pesquisa, pré-visualização de ficheiros e partilha por link. Os ficheiros são armazenados no servidor, enquanto a base de dados gere todas as informações necessárias para o seu controlo e recuperação.</a:t>
            </a:r>
          </a:p>
          <a:p>
            <a:r>
              <a:rPr lang="pt-BR" b="1" dirty="0" smtClean="0"/>
              <a:t>3. CONCLUSÕES</a:t>
            </a:r>
          </a:p>
          <a:p>
            <a:r>
              <a:rPr lang="pt-BR" dirty="0" smtClean="0"/>
              <a:t>O desenvolvimento da Mini </a:t>
            </a:r>
            <a:r>
              <a:rPr lang="pt-BR" dirty="0" err="1" smtClean="0"/>
              <a:t>Dropbox</a:t>
            </a:r>
            <a:r>
              <a:rPr lang="pt-BR" dirty="0" smtClean="0"/>
              <a:t> Distribuída permitiu aplicar conhecimentos de desenvolvimento web, bases de dados e sistemas distribuídos. O projeto demonstra a importância da replicação de dados, da gestão eficiente da informação e da disponibilidade dos serviços, proporcionando uma solução funcional, segura e escalável para armazenamento de ficheiros.</a:t>
            </a:r>
          </a:p>
          <a:p>
            <a:r>
              <a:rPr lang="pt-BR" b="1" dirty="0" smtClean="0"/>
              <a:t>4. TECNOLOGIAS E FERRAMENTAS UTILIZADAS</a:t>
            </a:r>
          </a:p>
          <a:p>
            <a:r>
              <a:rPr lang="pt-BR" b="1" dirty="0" smtClean="0"/>
              <a:t>Linguagem de programação:</a:t>
            </a:r>
            <a:r>
              <a:rPr lang="pt-BR" dirty="0" smtClean="0"/>
              <a:t> Python</a:t>
            </a:r>
          </a:p>
          <a:p>
            <a:r>
              <a:rPr lang="pt-BR" b="1" dirty="0" smtClean="0"/>
              <a:t>Framework </a:t>
            </a:r>
            <a:r>
              <a:rPr lang="pt-BR" b="1" dirty="0" err="1" smtClean="0"/>
              <a:t>Backend</a:t>
            </a:r>
            <a:r>
              <a:rPr lang="pt-BR" b="1" dirty="0" smtClean="0"/>
              <a:t>:</a:t>
            </a:r>
            <a:r>
              <a:rPr lang="pt-BR" dirty="0" smtClean="0"/>
              <a:t> </a:t>
            </a:r>
            <a:r>
              <a:rPr lang="pt-BR" dirty="0" err="1" smtClean="0"/>
              <a:t>Flask</a:t>
            </a:r>
            <a:endParaRPr lang="pt-BR" dirty="0" smtClean="0"/>
          </a:p>
          <a:p>
            <a:r>
              <a:rPr lang="pt-BR" b="1" dirty="0" smtClean="0"/>
              <a:t>Base de Dados:</a:t>
            </a:r>
            <a:r>
              <a:rPr lang="pt-BR" dirty="0" smtClean="0"/>
              <a:t> </a:t>
            </a:r>
            <a:r>
              <a:rPr lang="pt-BR" dirty="0" err="1" smtClean="0"/>
              <a:t>PostgreSQL</a:t>
            </a:r>
            <a:endParaRPr lang="pt-BR" dirty="0" smtClean="0"/>
          </a:p>
          <a:p>
            <a:r>
              <a:rPr lang="pt-BR" b="1" dirty="0" smtClean="0"/>
              <a:t>Extensão Espacial:</a:t>
            </a:r>
            <a:r>
              <a:rPr lang="pt-BR" dirty="0" smtClean="0"/>
              <a:t> </a:t>
            </a:r>
            <a:r>
              <a:rPr lang="pt-BR" dirty="0" err="1" smtClean="0"/>
              <a:t>PostGIS</a:t>
            </a:r>
            <a:endParaRPr lang="pt-BR" dirty="0" smtClean="0"/>
          </a:p>
          <a:p>
            <a:r>
              <a:rPr lang="pt-BR" b="1" dirty="0" err="1" smtClean="0"/>
              <a:t>Frontend</a:t>
            </a:r>
            <a:r>
              <a:rPr lang="pt-BR" b="1" dirty="0" smtClean="0"/>
              <a:t>:</a:t>
            </a:r>
            <a:r>
              <a:rPr lang="pt-BR" dirty="0" smtClean="0"/>
              <a:t> HTML, CSS e </a:t>
            </a:r>
            <a:r>
              <a:rPr lang="pt-BR" dirty="0" err="1" smtClean="0"/>
              <a:t>JavaScript</a:t>
            </a:r>
            <a:endParaRPr lang="pt-BR" dirty="0" smtClean="0"/>
          </a:p>
          <a:p>
            <a:r>
              <a:rPr lang="pt-BR" b="1" dirty="0" smtClean="0"/>
              <a:t>Comunicação entre servidores:</a:t>
            </a:r>
            <a:r>
              <a:rPr lang="pt-BR" dirty="0" smtClean="0"/>
              <a:t> API REST</a:t>
            </a:r>
          </a:p>
          <a:p>
            <a:r>
              <a:rPr lang="pt-BR" b="1" dirty="0" smtClean="0"/>
              <a:t>Servidor Web:</a:t>
            </a:r>
            <a:r>
              <a:rPr lang="pt-BR" dirty="0" smtClean="0"/>
              <a:t> </a:t>
            </a:r>
            <a:r>
              <a:rPr lang="pt-BR" dirty="0" err="1" smtClean="0"/>
              <a:t>Flask</a:t>
            </a:r>
            <a:r>
              <a:rPr lang="pt-BR" dirty="0" smtClean="0"/>
              <a:t> </a:t>
            </a:r>
            <a:r>
              <a:rPr lang="pt-BR" dirty="0" err="1" smtClean="0"/>
              <a:t>Development</a:t>
            </a:r>
            <a:r>
              <a:rPr lang="pt-BR" dirty="0" smtClean="0"/>
              <a:t> Server</a:t>
            </a:r>
          </a:p>
          <a:p>
            <a:r>
              <a:rPr lang="pt-BR" b="1" dirty="0" smtClean="0"/>
              <a:t>Controlo de versões:</a:t>
            </a:r>
            <a:r>
              <a:rPr lang="pt-BR" dirty="0" smtClean="0"/>
              <a:t> </a:t>
            </a:r>
            <a:r>
              <a:rPr lang="pt-BR" dirty="0" err="1" smtClean="0"/>
              <a:t>Git</a:t>
            </a:r>
            <a:r>
              <a:rPr lang="pt-BR" dirty="0" smtClean="0"/>
              <a:t> e GitHub (opcional)</a:t>
            </a:r>
          </a:p>
          <a:p>
            <a:r>
              <a:rPr lang="pt-BR" b="1" dirty="0" smtClean="0"/>
              <a:t>Ambiente de Desenvolvimento:</a:t>
            </a:r>
            <a:r>
              <a:rPr lang="pt-BR" dirty="0" smtClean="0"/>
              <a:t> Visual Studio </a:t>
            </a:r>
            <a:r>
              <a:rPr lang="pt-BR" dirty="0" err="1" smtClean="0"/>
              <a:t>Code</a:t>
            </a:r>
            <a:endParaRPr lang="pt-BR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59CF6-0B9A-40BC-B262-55A4902EAB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20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2. Demonstração (7 minutos)</a:t>
            </a:r>
          </a:p>
          <a:p>
            <a:r>
              <a:rPr lang="pt-BR" dirty="0" smtClean="0"/>
              <a:t>## Cenário 1 – Upload de ficheiros</a:t>
            </a:r>
          </a:p>
          <a:p>
            <a:pPr marL="228600" indent="-228600">
              <a:buAutoNum type="arabicPeriod"/>
            </a:pPr>
            <a:r>
              <a:rPr lang="pt-BR" dirty="0" smtClean="0"/>
              <a:t>O utilizador inicia sessão.</a:t>
            </a:r>
          </a:p>
          <a:p>
            <a:pPr marL="228600" indent="-228600">
              <a:buAutoNum type="arabicPeriod"/>
            </a:pPr>
            <a:r>
              <a:rPr lang="pt-BR" dirty="0" smtClean="0"/>
              <a:t>Faz upload de um ficheiro.</a:t>
            </a:r>
          </a:p>
          <a:p>
            <a:pPr marL="228600" indent="-228600">
              <a:buAutoNum type="arabicPeriod"/>
            </a:pPr>
            <a:r>
              <a:rPr lang="pt-BR" dirty="0" smtClean="0"/>
              <a:t>O sistema calcula automaticamente o </a:t>
            </a:r>
            <a:r>
              <a:rPr lang="pt-BR" dirty="0" err="1" smtClean="0"/>
              <a:t>checksum</a:t>
            </a:r>
            <a:r>
              <a:rPr lang="pt-BR" dirty="0" smtClean="0"/>
              <a:t> SHA-256.4. </a:t>
            </a:r>
          </a:p>
          <a:p>
            <a:pPr marL="228600" indent="-228600">
              <a:buAutoNum type="arabicPeriod"/>
            </a:pPr>
            <a:r>
              <a:rPr lang="pt-BR" dirty="0" smtClean="0"/>
              <a:t>O ficheiro é copiado para todos os nós ativos.</a:t>
            </a:r>
          </a:p>
          <a:p>
            <a:pPr marL="228600" indent="-228600">
              <a:buAutoNum type="arabicPeriod"/>
            </a:pPr>
            <a:r>
              <a:rPr lang="pt-BR" dirty="0" smtClean="0"/>
              <a:t>O backup também recebe uma cópia.</a:t>
            </a:r>
          </a:p>
          <a:p>
            <a:pPr marL="228600" indent="-228600">
              <a:buAutoNum type="arabicPeriod"/>
            </a:pPr>
            <a:r>
              <a:rPr lang="pt-BR" dirty="0" smtClean="0"/>
              <a:t>Explicar que a replicação física é feita através da biblioteca *shutil.copy2()*.</a:t>
            </a:r>
          </a:p>
          <a:p>
            <a:pPr marL="228600" indent="-228600">
              <a:buAutoNum type="arabicPeriod"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---## Cenário 2 – Escolha do nó mais próximo</a:t>
            </a:r>
          </a:p>
          <a:p>
            <a:pPr marL="0" indent="0">
              <a:buNone/>
            </a:pPr>
            <a:r>
              <a:rPr lang="pt-BR" dirty="0" smtClean="0"/>
              <a:t>Mostrar a página dos nós.</a:t>
            </a:r>
          </a:p>
          <a:p>
            <a:pPr marL="0" indent="0">
              <a:buNone/>
            </a:pPr>
            <a:r>
              <a:rPr lang="pt-BR" dirty="0" smtClean="0"/>
              <a:t>Explicar que: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O utilizador clica num ponto do mapa.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O sistema consulta o índice espacial R-</a:t>
            </a:r>
            <a:r>
              <a:rPr lang="pt-BR" dirty="0" err="1" smtClean="0"/>
              <a:t>tree</a:t>
            </a:r>
            <a:r>
              <a:rPr lang="pt-BR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É apresentado automaticamente o nó ativo mais </a:t>
            </a:r>
            <a:r>
              <a:rPr lang="pt-BR" dirty="0" err="1" smtClean="0"/>
              <a:t>próximo.Depois</a:t>
            </a:r>
            <a:r>
              <a:rPr lang="pt-BR" dirty="0" smtClean="0"/>
              <a:t> mostrar um download.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O sistema escolhe automaticamente o nó que: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possui a réplica;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está mais próximo da localização do utilizador.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---## Cenário 3 – Lixeira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Eliminar um ficheiro.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Mostrar que: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desaparece do </a:t>
            </a:r>
            <a:r>
              <a:rPr lang="pt-BR" dirty="0" err="1" smtClean="0"/>
              <a:t>Dashboard</a:t>
            </a:r>
            <a:r>
              <a:rPr lang="pt-BR" dirty="0" smtClean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continua guardado no Backup;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pode ser </a:t>
            </a:r>
            <a:r>
              <a:rPr lang="pt-BR" dirty="0" err="1" smtClean="0"/>
              <a:t>restaurado.Depois</a:t>
            </a:r>
            <a:r>
              <a:rPr lang="pt-BR" dirty="0" smtClean="0"/>
              <a:t> restaurar o ficheiro para demonstrar que as réplicas são recriadas.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---## </a:t>
            </a:r>
            <a:r>
              <a:rPr lang="pt-BR" dirty="0" err="1" smtClean="0"/>
              <a:t>InterfaceDestacar</a:t>
            </a:r>
            <a:r>
              <a:rPr lang="pt-BR" dirty="0" smtClean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</a:t>
            </a:r>
            <a:r>
              <a:rPr lang="pt-BR" dirty="0" err="1" smtClean="0"/>
              <a:t>Dashboard</a:t>
            </a:r>
            <a:r>
              <a:rPr lang="pt-BR" dirty="0" smtClean="0"/>
              <a:t> intuitivo;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Gestão de pastas;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Pesquisa;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Ordenação;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Perfil do utilizador;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Mapa interativo;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mtClean="0"/>
              <a:t>* </a:t>
            </a:r>
            <a:r>
              <a:rPr lang="pt-BR" dirty="0" smtClean="0"/>
              <a:t>Estado dos </a:t>
            </a:r>
            <a:r>
              <a:rPr lang="pt-BR" smtClean="0"/>
              <a:t>nós;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mtClean="0"/>
              <a:t>* </a:t>
            </a:r>
            <a:r>
              <a:rPr lang="pt-BR" dirty="0" smtClean="0"/>
              <a:t>Informação sobre o nó que serviu o ficheiro.---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59CF6-0B9A-40BC-B262-55A4902EAB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19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3. Explicação do Código (5 minutos)</a:t>
            </a:r>
          </a:p>
          <a:p>
            <a:r>
              <a:rPr lang="pt-BR" dirty="0" smtClean="0"/>
              <a:t>## Estrutura do projeto</a:t>
            </a:r>
          </a:p>
          <a:p>
            <a:r>
              <a:rPr lang="pt-BR" dirty="0" smtClean="0"/>
              <a:t>Projeto</a:t>
            </a:r>
          </a:p>
          <a:p>
            <a:r>
              <a:rPr lang="pt-BR" dirty="0" smtClean="0"/>
              <a:t>│</a:t>
            </a:r>
          </a:p>
          <a:p>
            <a:r>
              <a:rPr lang="pt-BR" dirty="0" smtClean="0"/>
              <a:t>├── app.py</a:t>
            </a:r>
          </a:p>
          <a:p>
            <a:r>
              <a:rPr lang="pt-BR" dirty="0" smtClean="0"/>
              <a:t>├── models.py</a:t>
            </a:r>
          </a:p>
          <a:p>
            <a:r>
              <a:rPr lang="pt-BR" dirty="0" smtClean="0"/>
              <a:t>├── extensions.py</a:t>
            </a:r>
          </a:p>
          <a:p>
            <a:r>
              <a:rPr lang="pt-BR" dirty="0" smtClean="0"/>
              <a:t>│├── </a:t>
            </a:r>
            <a:r>
              <a:rPr lang="pt-BR" dirty="0" err="1" smtClean="0"/>
              <a:t>services</a:t>
            </a:r>
            <a:endParaRPr lang="pt-BR" dirty="0" smtClean="0"/>
          </a:p>
          <a:p>
            <a:r>
              <a:rPr lang="pt-BR" dirty="0" smtClean="0"/>
              <a:t>│   ├── checksum.py</a:t>
            </a:r>
          </a:p>
          <a:p>
            <a:r>
              <a:rPr lang="pt-BR" dirty="0" smtClean="0"/>
              <a:t>│   ├── geo.py</a:t>
            </a:r>
          </a:p>
          <a:p>
            <a:r>
              <a:rPr lang="pt-BR" dirty="0" smtClean="0"/>
              <a:t>│   └── replication.py</a:t>
            </a:r>
          </a:p>
          <a:p>
            <a:r>
              <a:rPr lang="pt-BR" dirty="0" smtClean="0"/>
              <a:t>│├── </a:t>
            </a:r>
            <a:r>
              <a:rPr lang="pt-BR" dirty="0" err="1" smtClean="0"/>
              <a:t>templates</a:t>
            </a:r>
            <a:endParaRPr lang="pt-BR" dirty="0" smtClean="0"/>
          </a:p>
          <a:p>
            <a:r>
              <a:rPr lang="pt-BR" dirty="0" smtClean="0"/>
              <a:t>│└── </a:t>
            </a:r>
            <a:r>
              <a:rPr lang="pt-BR" dirty="0" err="1" smtClean="0"/>
              <a:t>static</a:t>
            </a:r>
            <a:endParaRPr lang="pt-BR" dirty="0" smtClean="0"/>
          </a:p>
          <a:p>
            <a:r>
              <a:rPr lang="pt-BR" dirty="0" smtClean="0"/>
              <a:t>### app.py</a:t>
            </a:r>
          </a:p>
          <a:p>
            <a:r>
              <a:rPr lang="pt-BR" dirty="0" smtClean="0"/>
              <a:t>Responsável por:* rotas;* autenticação;* upload;* download;* gestão dos nós;* lixeira.</a:t>
            </a:r>
          </a:p>
          <a:p>
            <a:r>
              <a:rPr lang="pt-BR" dirty="0" smtClean="0"/>
              <a:t>---### models.py</a:t>
            </a:r>
          </a:p>
          <a:p>
            <a:r>
              <a:rPr lang="pt-BR" dirty="0" smtClean="0"/>
              <a:t>Contém os modelos da base de dados.</a:t>
            </a:r>
          </a:p>
          <a:p>
            <a:r>
              <a:rPr lang="pt-BR" dirty="0" smtClean="0"/>
              <a:t>Principais entidades:</a:t>
            </a:r>
          </a:p>
          <a:p>
            <a:r>
              <a:rPr lang="pt-BR" dirty="0" err="1" smtClean="0"/>
              <a:t>User</a:t>
            </a:r>
            <a:r>
              <a:rPr lang="pt-BR" dirty="0" smtClean="0"/>
              <a:t> </a:t>
            </a:r>
          </a:p>
          <a:p>
            <a:r>
              <a:rPr lang="pt-BR" dirty="0" smtClean="0"/>
              <a:t>│ ├── Folder </a:t>
            </a:r>
          </a:p>
          <a:p>
            <a:r>
              <a:rPr lang="pt-BR" dirty="0" smtClean="0"/>
              <a:t>│ └── File     </a:t>
            </a:r>
          </a:p>
          <a:p>
            <a:r>
              <a:rPr lang="pt-BR" dirty="0" smtClean="0"/>
              <a:t> │     </a:t>
            </a:r>
          </a:p>
          <a:p>
            <a:r>
              <a:rPr lang="pt-BR" dirty="0" smtClean="0"/>
              <a:t> └── </a:t>
            </a:r>
            <a:r>
              <a:rPr lang="pt-BR" dirty="0" err="1" smtClean="0"/>
              <a:t>FileReplica</a:t>
            </a:r>
            <a:r>
              <a:rPr lang="pt-BR" dirty="0" smtClean="0"/>
              <a:t>          </a:t>
            </a:r>
          </a:p>
          <a:p>
            <a:r>
              <a:rPr lang="pt-BR" dirty="0" smtClean="0"/>
              <a:t>     │               </a:t>
            </a:r>
          </a:p>
          <a:p>
            <a:r>
              <a:rPr lang="pt-BR" dirty="0" smtClean="0"/>
              <a:t>└── </a:t>
            </a:r>
            <a:r>
              <a:rPr lang="pt-BR" dirty="0" err="1" smtClean="0"/>
              <a:t>NodeCada</a:t>
            </a:r>
            <a:r>
              <a:rPr lang="pt-BR" dirty="0" smtClean="0"/>
              <a:t> ficheiro pode possuir várias </a:t>
            </a:r>
            <a:r>
              <a:rPr lang="pt-BR" dirty="0" err="1" smtClean="0"/>
              <a:t>réplicas.Cada</a:t>
            </a:r>
            <a:r>
              <a:rPr lang="pt-BR" dirty="0" smtClean="0"/>
              <a:t> réplica pertence a um nó.</a:t>
            </a:r>
          </a:p>
          <a:p>
            <a:r>
              <a:rPr lang="pt-BR" dirty="0" smtClean="0"/>
              <a:t>---### </a:t>
            </a:r>
            <a:r>
              <a:rPr lang="pt-BR" dirty="0" err="1" smtClean="0"/>
              <a:t>services</a:t>
            </a:r>
            <a:r>
              <a:rPr lang="pt-BR" dirty="0" smtClean="0"/>
              <a:t>/A lógica de negócio foi separada do código das rotas.</a:t>
            </a:r>
          </a:p>
          <a:p>
            <a:r>
              <a:rPr lang="pt-BR" dirty="0" smtClean="0"/>
              <a:t>#### checksum.py</a:t>
            </a:r>
          </a:p>
          <a:p>
            <a:r>
              <a:rPr lang="pt-BR" dirty="0" smtClean="0"/>
              <a:t>Responsável por: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calcular SHA-256;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verificar integridade.</a:t>
            </a:r>
          </a:p>
          <a:p>
            <a:r>
              <a:rPr lang="pt-BR" dirty="0" smtClean="0"/>
              <a:t>---</a:t>
            </a:r>
          </a:p>
          <a:p>
            <a:r>
              <a:rPr lang="pt-BR" dirty="0" smtClean="0"/>
              <a:t>#### geo.py</a:t>
            </a:r>
          </a:p>
          <a:p>
            <a:r>
              <a:rPr lang="pt-BR" dirty="0" smtClean="0"/>
              <a:t>Implementa: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cálculo da distância (</a:t>
            </a:r>
            <a:r>
              <a:rPr lang="pt-BR" dirty="0" err="1" smtClean="0"/>
              <a:t>Haversine</a:t>
            </a:r>
            <a:r>
              <a:rPr lang="pt-BR" dirty="0" smtClean="0"/>
              <a:t>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índice espacial R-</a:t>
            </a:r>
            <a:r>
              <a:rPr lang="pt-BR" dirty="0" err="1" smtClean="0"/>
              <a:t>tree</a:t>
            </a:r>
            <a:r>
              <a:rPr lang="pt-BR" dirty="0" smtClean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conversão para UTM.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---#### replication.py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Implementa toda a lógica da replicação: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copiar ficheiros;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restaurar;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redistribuir;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* mover para a lixeira.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---# Processo de Implementação (</a:t>
            </a:r>
            <a:r>
              <a:rPr lang="pt-BR" dirty="0" err="1" smtClean="0"/>
              <a:t>Indentação</a:t>
            </a:r>
            <a:r>
              <a:rPr lang="pt-BR" dirty="0" smtClean="0"/>
              <a:t> do Código)Durante o desenvolvimento seguimos uma estrutura simples: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Rota </a:t>
            </a:r>
            <a:r>
              <a:rPr lang="pt-BR" dirty="0" err="1" smtClean="0"/>
              <a:t>Flask</a:t>
            </a:r>
            <a:r>
              <a:rPr lang="pt-BR" dirty="0" smtClean="0"/>
              <a:t>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│      ├── valida utilizador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│      ├── procura dados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│      ├── chama o serviço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 │      ├── atualiza a base de dados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│      └── devolve a </a:t>
            </a:r>
            <a:r>
              <a:rPr lang="pt-BR" dirty="0" err="1" smtClean="0"/>
              <a:t>respostaExemplo:python@app.route</a:t>
            </a:r>
            <a:r>
              <a:rPr lang="pt-BR" dirty="0" smtClean="0"/>
              <a:t>("/upload")@</a:t>
            </a:r>
            <a:r>
              <a:rPr lang="pt-BR" dirty="0" err="1" smtClean="0"/>
              <a:t>login_requireddef</a:t>
            </a:r>
            <a:r>
              <a:rPr lang="pt-BR" dirty="0" smtClean="0"/>
              <a:t> upload():    </a:t>
            </a:r>
            <a:r>
              <a:rPr lang="pt-BR" dirty="0" err="1" smtClean="0"/>
              <a:t>validar_utilizador</a:t>
            </a:r>
            <a:r>
              <a:rPr lang="pt-BR" dirty="0" smtClean="0"/>
              <a:t>()    ficheiro = </a:t>
            </a:r>
            <a:r>
              <a:rPr lang="pt-BR" dirty="0" err="1" smtClean="0"/>
              <a:t>obter_ficheiro</a:t>
            </a:r>
            <a:r>
              <a:rPr lang="pt-BR" dirty="0" smtClean="0"/>
              <a:t>()    </a:t>
            </a:r>
            <a:r>
              <a:rPr lang="pt-BR" dirty="0" err="1" smtClean="0"/>
              <a:t>replicar_para_nos</a:t>
            </a:r>
            <a:r>
              <a:rPr lang="pt-BR" dirty="0" smtClean="0"/>
              <a:t>()    </a:t>
            </a:r>
            <a:r>
              <a:rPr lang="pt-BR" dirty="0" err="1" smtClean="0"/>
              <a:t>guardar_bd</a:t>
            </a:r>
            <a:r>
              <a:rPr lang="pt-BR" dirty="0" smtClean="0"/>
              <a:t>()    </a:t>
            </a:r>
            <a:r>
              <a:rPr lang="pt-BR" dirty="0" err="1" smtClean="0"/>
              <a:t>return</a:t>
            </a:r>
            <a:r>
              <a:rPr lang="pt-BR" dirty="0" smtClean="0"/>
              <a:t> </a:t>
            </a:r>
            <a:r>
              <a:rPr lang="pt-BR" dirty="0" err="1" smtClean="0"/>
              <a:t>redirect</a:t>
            </a:r>
            <a:r>
              <a:rPr lang="pt-BR" dirty="0" smtClean="0"/>
              <a:t>(...)Esta organização torna o código:* organizado;* reutilizável;* fácil de manter. A separação do projeto em módulos tornou o sistema mais organizado, reutilizável, escalável e de fácil manutenção.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---## Comunicação entre </a:t>
            </a:r>
            <a:r>
              <a:rPr lang="pt-BR" dirty="0" err="1" smtClean="0"/>
              <a:t>componentesO</a:t>
            </a:r>
            <a:r>
              <a:rPr lang="pt-BR" dirty="0" smtClean="0"/>
              <a:t> fluxo de funcionamento do sistema é:Interface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   │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 ▼app.py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│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▼</a:t>
            </a:r>
            <a:r>
              <a:rPr lang="pt-BR" dirty="0" err="1" smtClean="0"/>
              <a:t>services</a:t>
            </a:r>
            <a:r>
              <a:rPr lang="pt-BR" dirty="0" smtClean="0"/>
              <a:t>/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│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▼models.py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 │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▼</a:t>
            </a:r>
            <a:r>
              <a:rPr lang="pt-BR" dirty="0" err="1" smtClean="0"/>
              <a:t>SQLiteOu</a:t>
            </a:r>
            <a:r>
              <a:rPr lang="pt-BR" dirty="0" smtClean="0"/>
              <a:t> seja: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smtClean="0"/>
              <a:t>Utilizador → </a:t>
            </a:r>
            <a:r>
              <a:rPr lang="pt-BR" dirty="0" err="1" smtClean="0"/>
              <a:t>Flask</a:t>
            </a:r>
            <a:r>
              <a:rPr lang="pt-BR" dirty="0" smtClean="0"/>
              <a:t> → Serviços → Base de Dados → Resposta.---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59CF6-0B9A-40BC-B262-55A4902EAB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23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59CF6-0B9A-40BC-B262-55A4902EAB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64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67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27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5681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3534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13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167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7109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916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80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101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1561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2817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277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4046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721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860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072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EAF61-AE67-4292-BD17-C147E97C54C9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FF7D44-83E1-49B0-8382-731EADB8A947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96026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slideshow/sd08-si-sistemas-de-arquivos-distribudos/21960518" TargetMode="External"/><Relationship Id="rId2" Type="http://schemas.openxmlformats.org/officeDocument/2006/relationships/hyperlink" Target="https://www.slideshare.net/slideshow/si-sad-sistemas-de-arquivos-distribudos/75313294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18F32CF7-893C-71F2-9BF1-E9E87E9182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2273327" y="1289050"/>
            <a:ext cx="764534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UNIVERSIDADE METODISTA DE ANGOLA</a:t>
            </a:r>
            <a:endParaRPr kumimoji="0" lang="pt-PT" altLang="pt-PT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Times New Roman" panose="02020603050405020304" pitchFamily="18" charset="0"/>
              </a:rPr>
              <a:t>MESTRADO EM ENGENHARIA INFORMÁTICA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Times New Roman" panose="02020603050405020304" pitchFamily="18" charset="0"/>
              </a:rPr>
              <a:t>RECUPERAÇÃO DE INFORMAÇÃO </a:t>
            </a:r>
            <a:endParaRPr kumimoji="0" lang="pt-PT" altLang="pt-PT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824657" y="6322977"/>
            <a:ext cx="25426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Times New Roman" panose="02020603050405020304" pitchFamily="18" charset="0"/>
              </a:rPr>
              <a:t>LUANDA</a:t>
            </a:r>
            <a:r>
              <a:rPr kumimoji="0" lang="pt-PT" altLang="pt-PT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pt-PT" altLang="pt-PT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Times New Roman" panose="02020603050405020304" pitchFamily="18" charset="0"/>
              </a:rPr>
              <a:t>2026</a:t>
            </a:r>
            <a:endParaRPr kumimoji="0" lang="pt-PT" altLang="pt-PT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6740165" y="5114997"/>
            <a:ext cx="526015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Orientadores: </a:t>
            </a:r>
          </a:p>
          <a:p>
            <a:pPr marL="800100" marR="0" lvl="1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Prof. Dr. </a:t>
            </a:r>
            <a:r>
              <a:rPr kumimoji="0" lang="en-US" alt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Mateus</a:t>
            </a:r>
            <a:r>
              <a:rPr kumimoji="0" lang="en-US" alt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Padoca</a:t>
            </a:r>
            <a:r>
              <a:rPr kumimoji="0" lang="en-US" alt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Calado</a:t>
            </a:r>
            <a:endParaRPr kumimoji="0" lang="en-US" altLang="en-US" sz="2400" b="0" i="1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Msc</a:t>
            </a:r>
            <a:r>
              <a:rPr kumimoji="0" lang="en-US" alt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Jo</a:t>
            </a:r>
            <a:r>
              <a:rPr kumimoji="0" lang="pt-BR" alt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ão</a:t>
            </a:r>
            <a:r>
              <a:rPr kumimoji="0" lang="pt-BR" alt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pt-BR" alt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Cussondama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altLang="pt-PT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121921" y="5114997"/>
            <a:ext cx="3422558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Autores: </a:t>
            </a:r>
          </a:p>
          <a:p>
            <a:pPr marL="800100" marR="0" lvl="1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4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Boares Gunza</a:t>
            </a:r>
          </a:p>
          <a:p>
            <a:pPr marL="800100" marR="0" lvl="1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Rita 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Manuel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501190" y="3800956"/>
            <a:ext cx="111896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 smtClean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t>Tema:</a:t>
            </a:r>
            <a:r>
              <a:rPr kumimoji="0" lang="pt-BR" sz="3200" b="1" i="0" u="none" strike="noStrike" kern="1200" cap="none" spc="0" normalizeH="0" noProof="0" dirty="0" smtClean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t> </a:t>
            </a:r>
            <a:r>
              <a:rPr kumimoji="0" lang="pt-BR" sz="3200" b="1" i="0" u="none" strike="noStrike" kern="1200" cap="none" spc="0" normalizeH="0" baseline="0" noProof="0" dirty="0" smtClean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t> Mini </a:t>
            </a:r>
            <a:r>
              <a:rPr kumimoji="0" lang="pt-BR" sz="3200" b="1" i="0" u="none" strike="noStrike" kern="1200" cap="none" spc="0" normalizeH="0" baseline="0" noProof="0" dirty="0" err="1" smtClean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t>Dropbox</a:t>
            </a:r>
            <a:r>
              <a:rPr kumimoji="0" lang="pt-BR" sz="3200" b="1" i="0" u="none" strike="noStrike" kern="1200" cap="none" spc="0" normalizeH="0" noProof="0" dirty="0" smtClean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t> distribuída</a:t>
            </a:r>
            <a:endParaRPr kumimoji="0" lang="pt-PT" sz="3200" b="1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ookman Old Style" panose="02050604050505020204" pitchFamily="18" charset="0"/>
              <a:ea typeface="+mn-ea"/>
              <a:cs typeface="+mn-c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322098" y="2610026"/>
            <a:ext cx="92512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 smtClean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t>Trabalho prático de sistema distribuídos e base de dados</a:t>
            </a:r>
            <a:endParaRPr kumimoji="0" lang="pt-BR" sz="2400" b="1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ookman Old Style" panose="02050604050505020204" pitchFamily="18" charset="0"/>
              <a:ea typeface="+mn-ea"/>
              <a:cs typeface="+mn-cs"/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D7060167-3EC1-73B1-3C16-4EE2151D8C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482" y="65904"/>
            <a:ext cx="3146474" cy="12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2989847" y="3308424"/>
            <a:ext cx="63803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https://github.com/boaresantonio-ux/MiniDropbox.git</a:t>
            </a:r>
          </a:p>
        </p:txBody>
      </p:sp>
    </p:spTree>
    <p:extLst>
      <p:ext uri="{BB962C8B-B14F-4D97-AF65-F5344CB8AC3E}">
        <p14:creationId xmlns:p14="http://schemas.microsoft.com/office/powerpoint/2010/main" val="339956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240454" y="208902"/>
            <a:ext cx="18149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</a:rPr>
              <a:t>INDICE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40454" y="855233"/>
            <a:ext cx="11178913" cy="5932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pt-BR" altLang="en-US" sz="2300" b="1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INTRODUÇÃO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3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1.1. </a:t>
            </a:r>
            <a:r>
              <a:rPr kumimoji="0" lang="en-US" altLang="en-US" sz="23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Problema</a:t>
            </a:r>
            <a:r>
              <a:rPr lang="en-US" altLang="en-US" sz="2300" dirty="0" smtClean="0">
                <a:solidFill>
                  <a:prstClr val="black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;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300" dirty="0" smtClean="0">
                <a:solidFill>
                  <a:prstClr val="black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	1.2. </a:t>
            </a:r>
            <a:r>
              <a:rPr kumimoji="0" lang="en-US" altLang="en-US" sz="23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Justificativa</a:t>
            </a:r>
            <a:r>
              <a:rPr kumimoji="0" lang="en-US" alt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;</a:t>
            </a:r>
            <a:endParaRPr kumimoji="0" lang="en-US" altLang="en-US" sz="23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1.3. </a:t>
            </a:r>
            <a:r>
              <a:rPr kumimoji="0" lang="en-US" altLang="en-US" sz="23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Objectivos</a:t>
            </a:r>
            <a:r>
              <a:rPr kumimoji="0" lang="en-US" alt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23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kumimoji="0" lang="en-US" altLang="en-US" sz="23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2. </a:t>
            </a:r>
            <a:r>
              <a:rPr lang="pt-BR" altLang="en-US" sz="2300" b="1" dirty="0">
                <a:solidFill>
                  <a:prstClr val="black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TECNOLOGIAS E FERRAMENTAS </a:t>
            </a:r>
            <a:r>
              <a:rPr lang="pt-BR" altLang="en-US" sz="2300" b="1" dirty="0" smtClean="0">
                <a:solidFill>
                  <a:prstClr val="black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UTILIZADAS</a:t>
            </a:r>
          </a:p>
          <a:p>
            <a:pPr algn="just">
              <a:lnSpc>
                <a:spcPct val="150000"/>
              </a:lnSpc>
              <a:defRPr/>
            </a:pPr>
            <a:r>
              <a:rPr lang="pt-BR" sz="23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3. APRESENTAÇÃO DA APLICAÇÃO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3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4. EXPLICAÇÃO DO CÓDIGO</a:t>
            </a:r>
          </a:p>
          <a:p>
            <a:pPr algn="just">
              <a:lnSpc>
                <a:spcPct val="150000"/>
              </a:lnSpc>
              <a:defRPr/>
            </a:pPr>
            <a:r>
              <a:rPr lang="pt-PT" altLang="en-US" sz="2300" b="1" dirty="0" smtClean="0">
                <a:solidFill>
                  <a:prstClr val="black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5. </a:t>
            </a:r>
            <a:r>
              <a:rPr lang="pt-PT" altLang="en-US" sz="2300" b="1" dirty="0">
                <a:solidFill>
                  <a:prstClr val="black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PROCESSO DE </a:t>
            </a:r>
            <a:r>
              <a:rPr lang="pt-PT" altLang="en-US" sz="2300" b="1" dirty="0" smtClean="0">
                <a:solidFill>
                  <a:prstClr val="black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DESENVOLVIMENTO</a:t>
            </a:r>
          </a:p>
          <a:p>
            <a:pPr algn="just">
              <a:lnSpc>
                <a:spcPct val="150000"/>
              </a:lnSpc>
              <a:defRPr/>
            </a:pPr>
            <a:r>
              <a:rPr lang="pt-PT" altLang="en-US" sz="2300" b="1" dirty="0" smtClean="0">
                <a:solidFill>
                  <a:prstClr val="black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6. </a:t>
            </a:r>
            <a:r>
              <a:rPr lang="pt-PT" altLang="en-US" sz="2300" b="1" dirty="0">
                <a:solidFill>
                  <a:prstClr val="black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LIMITAÇÕES E MELHORIAS </a:t>
            </a:r>
            <a:endParaRPr lang="pt-BR" altLang="en-US" sz="2300" b="1" dirty="0">
              <a:solidFill>
                <a:prstClr val="black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en-US" sz="2300" b="1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7. CONCLUSÕES</a:t>
            </a:r>
          </a:p>
          <a:p>
            <a:pPr algn="just">
              <a:lnSpc>
                <a:spcPct val="150000"/>
              </a:lnSpc>
              <a:defRPr/>
            </a:pPr>
            <a:r>
              <a:rPr lang="pt-PT" sz="23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8. REFERÊNCIAS </a:t>
            </a:r>
            <a:r>
              <a:rPr lang="pt-PT" sz="2300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BIBLIOGRÁFICAS</a:t>
            </a:r>
            <a:endParaRPr lang="pt-PT" sz="23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54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2455753" y="2989809"/>
            <a:ext cx="68294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</a:rPr>
              <a:t>ASPECTOS </a:t>
            </a:r>
            <a:r>
              <a:rPr kumimoji="0" lang="pt-PT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</a:rPr>
              <a:t>INTRODUTÓRIOS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41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10314" y="0"/>
            <a:ext cx="3930884" cy="8165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pt-PT" sz="3600" b="1" dirty="0" smtClean="0">
                <a:solidFill>
                  <a:prstClr val="black"/>
                </a:solidFill>
                <a:latin typeface="Arial Rounded MT Bold" panose="020F0704030504030204" pitchFamily="34" charset="0"/>
              </a:rPr>
              <a:t>1. INTRODUÇÃO</a:t>
            </a:r>
            <a:endParaRPr lang="en-US" sz="36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33632" y="1191666"/>
            <a:ext cx="114158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10314" y="1191666"/>
            <a:ext cx="1163917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 </a:t>
            </a:r>
            <a:r>
              <a:rPr lang="pt-BR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Mini Dropbox Distribuída</a:t>
            </a:r>
            <a:r>
              <a:rPr lang="pt-BR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é uma aplicação web desenvolvida em </a:t>
            </a:r>
            <a:r>
              <a:rPr lang="pt-BR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Flask</a:t>
            </a:r>
            <a:r>
              <a:rPr lang="pt-BR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e </a:t>
            </a:r>
            <a:r>
              <a:rPr lang="pt-BR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SQLite</a:t>
            </a:r>
            <a:r>
              <a:rPr lang="pt-BR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que simula um sistema de armazenamento e partilha de ficheiros de forma segura, organizada e eficiente. O projeto integra conceitos de </a:t>
            </a:r>
            <a:r>
              <a:rPr lang="pt-BR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Sistemas Distribuídos</a:t>
            </a:r>
            <a:r>
              <a:rPr lang="pt-BR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e </a:t>
            </a:r>
            <a:r>
              <a:rPr lang="pt-BR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Bases de Dados</a:t>
            </a:r>
            <a:r>
              <a:rPr lang="pt-BR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implementando mecanismos de replicação de ficheiros, gestão de metadados, autenticação de utilizadores e recuperação de dados em caso de falhas. Além disso, utiliza o índice espacial </a:t>
            </a:r>
            <a:r>
              <a:rPr lang="pt-BR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R-tree</a:t>
            </a:r>
            <a:r>
              <a:rPr lang="pt-BR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para identificar o nó mais próximo do utilizador durante o processo de download, demonstrando a aplicação prática de técnicas de armazenamento distribuído, disponibilidade, tolerância a falhas e otimização na recuperação da informação.</a:t>
            </a:r>
          </a:p>
        </p:txBody>
      </p:sp>
    </p:spTree>
    <p:extLst>
      <p:ext uri="{BB962C8B-B14F-4D97-AF65-F5344CB8AC3E}">
        <p14:creationId xmlns:p14="http://schemas.microsoft.com/office/powerpoint/2010/main" val="140664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433632" y="1191666"/>
            <a:ext cx="114158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72632" y="1560998"/>
            <a:ext cx="10136373" cy="3899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pt-BR" altLang="en-US" sz="2400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Os sistemas tradicionais de armazenamento de ficheiros dependem frequentemente de um único servidor. Quando esse servidor falha, podem ocorrer indisponibilidade do serviço e perda de dados. Para minimizar esses problemas, a Mini Dropbox Distribuída implementa mecanismos de replicação automática, seleção do nó mais próximo para download e recuperação através de um nó de backup.</a:t>
            </a:r>
            <a:endParaRPr lang="en-US" altLang="en-US" sz="2400" dirty="0">
              <a:solidFill>
                <a:schemeClr val="bg1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772632" y="495770"/>
            <a:ext cx="2856359" cy="6958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en-US" altLang="en-US" sz="3000" b="1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1.1. </a:t>
            </a:r>
            <a:r>
              <a:rPr lang="en-US" altLang="en-US" sz="3000" b="1" dirty="0" err="1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Problema</a:t>
            </a:r>
            <a:r>
              <a:rPr lang="en-US" altLang="en-US" sz="3000" b="1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229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23013" y="1790090"/>
            <a:ext cx="10419907" cy="3345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O </a:t>
            </a:r>
            <a:r>
              <a:rPr lang="pt-BR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projeto foi desenvolvido para demonstrar a aplicação prática dos conhecimentos adquiridos nas disciplinas de </a:t>
            </a:r>
            <a:r>
              <a:rPr lang="pt-BR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Sistemas Distribuídos</a:t>
            </a:r>
            <a:r>
              <a:rPr lang="pt-BR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e </a:t>
            </a:r>
            <a:r>
              <a:rPr lang="pt-BR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Bases de Dados</a:t>
            </a:r>
            <a:r>
              <a:rPr lang="pt-BR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. A integração destas áreas permite criar um sistema capaz de armazenar ficheiros, gerir informações dos utilizadores e assegurar a disponibilidade dos dados através da replicação entre servidores.</a:t>
            </a:r>
            <a:endParaRPr lang="pt-BR" sz="2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723013" y="644536"/>
            <a:ext cx="3241272" cy="6958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000" b="1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1.2. </a:t>
            </a:r>
            <a:r>
              <a:rPr lang="en-US" altLang="en-US" sz="3000" b="1" dirty="0" err="1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Justificativa</a:t>
            </a:r>
            <a:endParaRPr lang="en-US" altLang="en-US" sz="3000" b="1" dirty="0">
              <a:solidFill>
                <a:schemeClr val="bg1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17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46567" y="1934939"/>
            <a:ext cx="1146189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Objetivo Geral</a:t>
            </a:r>
          </a:p>
          <a:p>
            <a:endParaRPr lang="pt-BR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Desenvolver uma Mini </a:t>
            </a:r>
            <a:r>
              <a:rPr lang="pt-BR" sz="24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Dropbox</a:t>
            </a:r>
            <a:r>
              <a:rPr lang="pt-BR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Distribuída que permita aos utilizadores armazenar, gerir e partilhar ficheiros de forma segura e disponível</a:t>
            </a:r>
            <a:r>
              <a:rPr lang="pt-BR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pt-BR" sz="2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pt-BR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Objetivos </a:t>
            </a:r>
            <a:r>
              <a:rPr lang="pt-BR" sz="2400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Específicos</a:t>
            </a:r>
          </a:p>
          <a:p>
            <a:endParaRPr lang="pt-BR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Implementar autenticação de utilizadores.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Permitir upload, download, renomeação e eliminação de ficheiros.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Organizar ficheiros em pastas.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Implementar pesquisa e ordenação de ficheiros.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Garantir </a:t>
            </a:r>
            <a:r>
              <a:rPr lang="pt-BR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 replicação automática dos ficheiros entre servidores.</a:t>
            </a:r>
          </a:p>
        </p:txBody>
      </p:sp>
      <p:sp>
        <p:nvSpPr>
          <p:cNvPr id="2" name="Retângulo 1"/>
          <p:cNvSpPr/>
          <p:nvPr/>
        </p:nvSpPr>
        <p:spPr>
          <a:xfrm>
            <a:off x="446566" y="950785"/>
            <a:ext cx="423175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pt-PT" sz="3000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1.3. Objectivos</a:t>
            </a:r>
            <a:endParaRPr lang="en-US" sz="30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667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921488" y="1372451"/>
            <a:ext cx="985992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Flask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Flask-Login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Flask-</a:t>
            </a:r>
            <a:r>
              <a:rPr lang="en-US" sz="2400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SQLAlchemy</a:t>
            </a:r>
            <a:endParaRPr lang="en-US" sz="2400" dirty="0" smtClean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SQLite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R-tree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Bootstrap 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Leaflet.js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SHA-256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HTML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CSS </a:t>
            </a:r>
            <a:endParaRPr lang="en-US" sz="2400" dirty="0" smtClean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Ambiente de Desenvolvimento</a:t>
            </a:r>
            <a:r>
              <a:rPr lang="pt-BR" sz="2400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: </a:t>
            </a:r>
            <a:r>
              <a:rPr lang="pt-BR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Visual </a:t>
            </a:r>
            <a:r>
              <a:rPr lang="pt-BR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Studio </a:t>
            </a:r>
            <a:r>
              <a:rPr lang="pt-BR" sz="24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Code</a:t>
            </a:r>
            <a:endParaRPr lang="pt-BR" sz="2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Git/GitHub</a:t>
            </a:r>
          </a:p>
        </p:txBody>
      </p:sp>
      <p:sp>
        <p:nvSpPr>
          <p:cNvPr id="5" name="Retângulo 4"/>
          <p:cNvSpPr/>
          <p:nvPr/>
        </p:nvSpPr>
        <p:spPr>
          <a:xfrm>
            <a:off x="644121" y="42530"/>
            <a:ext cx="7059433" cy="8165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600" b="1" dirty="0" smtClean="0">
                <a:solidFill>
                  <a:prstClr val="black"/>
                </a:solidFill>
                <a:latin typeface="Arial Rounded MT Bold" panose="020F0704030504030204" pitchFamily="34" charset="0"/>
              </a:rPr>
              <a:t>2. TECNOLOGIAS UTILIZADAS</a:t>
            </a:r>
            <a:endParaRPr lang="en-US" sz="36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209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33065" y="1657596"/>
            <a:ext cx="1166046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2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A </a:t>
            </a:r>
            <a:r>
              <a:rPr lang="pt-BR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aplicação disponibiliza uma interface web onde os utilizadores podem criar uma conta, iniciar sessão e gerir os seus ficheiros. O sistema permite realizar operações como upload, download, organização em pastas, pesquisa, pré-visualização de ficheiros e partilha por link. Os ficheiros são armazenados no servidor, enquanto a base de dados gere todas as informações necessárias para o seu controlo e recuperação.</a:t>
            </a:r>
          </a:p>
        </p:txBody>
      </p:sp>
      <p:sp>
        <p:nvSpPr>
          <p:cNvPr id="2" name="Retângulo 1"/>
          <p:cNvSpPr/>
          <p:nvPr/>
        </p:nvSpPr>
        <p:spPr>
          <a:xfrm>
            <a:off x="527926" y="203423"/>
            <a:ext cx="8255593" cy="8165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3600" b="1" dirty="0" smtClean="0">
                <a:solidFill>
                  <a:prstClr val="black"/>
                </a:solidFill>
                <a:latin typeface="Arial Rounded MT Bold" panose="020F0704030504030204" pitchFamily="34" charset="0"/>
              </a:rPr>
              <a:t>3. APRESENTAÇÃO </a:t>
            </a:r>
            <a:r>
              <a:rPr lang="pt-BR" sz="3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DA APLICAÇÃO</a:t>
            </a:r>
          </a:p>
        </p:txBody>
      </p:sp>
    </p:spTree>
    <p:extLst>
      <p:ext uri="{BB962C8B-B14F-4D97-AF65-F5344CB8AC3E}">
        <p14:creationId xmlns:p14="http://schemas.microsoft.com/office/powerpoint/2010/main" val="364271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900223" y="1435693"/>
            <a:ext cx="932829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Projeto</a:t>
            </a:r>
            <a:endParaRPr lang="en-US" sz="2400" dirty="0" smtClean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│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├── app.py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├── models.py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├── extensions.py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│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├── services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│   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├── </a:t>
            </a: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checksum.py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│   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├── </a:t>
            </a: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geo.py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│   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└── </a:t>
            </a:r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replication.py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│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├── templates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│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└── 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static</a:t>
            </a:r>
          </a:p>
        </p:txBody>
      </p:sp>
      <p:sp>
        <p:nvSpPr>
          <p:cNvPr id="3" name="Retângulo 2"/>
          <p:cNvSpPr/>
          <p:nvPr/>
        </p:nvSpPr>
        <p:spPr>
          <a:xfrm>
            <a:off x="643471" y="24927"/>
            <a:ext cx="6609502" cy="8165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600" b="1" dirty="0" smtClean="0">
                <a:solidFill>
                  <a:prstClr val="black"/>
                </a:solidFill>
                <a:latin typeface="Arial Rounded MT Bold" panose="020F0704030504030204" pitchFamily="34" charset="0"/>
              </a:rPr>
              <a:t>4. EXPLICAÇÃO DO CÓDIGO</a:t>
            </a:r>
            <a:endParaRPr lang="en-US" sz="36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900223" y="876320"/>
            <a:ext cx="263886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prstClr val="black"/>
                </a:solidFill>
                <a:latin typeface="Bookman Old Style" panose="02050604050505020204" pitchFamily="18" charset="0"/>
              </a:rPr>
              <a:t>Estrutura</a:t>
            </a:r>
            <a:r>
              <a:rPr lang="en-US" b="1" dirty="0">
                <a:solidFill>
                  <a:prstClr val="black"/>
                </a:solidFill>
                <a:latin typeface="Bookman Old Style" panose="02050604050505020204" pitchFamily="18" charset="0"/>
              </a:rPr>
              <a:t> do </a:t>
            </a:r>
            <a:r>
              <a:rPr lang="en-US" b="1" dirty="0" err="1">
                <a:solidFill>
                  <a:prstClr val="black"/>
                </a:solidFill>
                <a:latin typeface="Bookman Old Style" panose="02050604050505020204" pitchFamily="18" charset="0"/>
              </a:rPr>
              <a:t>projeto</a:t>
            </a:r>
            <a:endParaRPr lang="en-US" b="1" dirty="0">
              <a:solidFill>
                <a:prstClr val="black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933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07920" y="156473"/>
            <a:ext cx="8906477" cy="8165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3600" b="1" dirty="0" smtClean="0">
                <a:solidFill>
                  <a:prstClr val="black"/>
                </a:solidFill>
                <a:latin typeface="Arial Rounded MT Bold" panose="020F0704030504030204" pitchFamily="34" charset="0"/>
              </a:rPr>
              <a:t>5. PROCESSO DE DESENVOLVIMENTO</a:t>
            </a:r>
            <a:endParaRPr lang="pt-BR" sz="3600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8676172" y="1635775"/>
            <a:ext cx="301964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</a:rPr>
              <a:t>4-  Soluções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 smtClean="0">
                <a:solidFill>
                  <a:schemeClr val="bg1"/>
                </a:solidFill>
              </a:rPr>
              <a:t>As </a:t>
            </a:r>
            <a:r>
              <a:rPr lang="pt-BR" b="1" dirty="0">
                <a:solidFill>
                  <a:schemeClr val="bg1"/>
                </a:solidFill>
              </a:rPr>
              <a:t>soluções encontradas foram</a:t>
            </a:r>
            <a:r>
              <a:rPr lang="pt-BR" b="1" dirty="0" smtClean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separação </a:t>
            </a:r>
            <a:r>
              <a:rPr lang="pt-BR" dirty="0">
                <a:solidFill>
                  <a:schemeClr val="bg1"/>
                </a:solidFill>
              </a:rPr>
              <a:t>da lógica em módulos</a:t>
            </a:r>
            <a:r>
              <a:rPr lang="pt-BR" dirty="0" smtClean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criação </a:t>
            </a:r>
            <a:r>
              <a:rPr lang="pt-BR" dirty="0">
                <a:solidFill>
                  <a:schemeClr val="bg1"/>
                </a:solidFill>
              </a:rPr>
              <a:t>da pasta </a:t>
            </a:r>
            <a:r>
              <a:rPr lang="pt-BR" dirty="0" err="1">
                <a:solidFill>
                  <a:schemeClr val="bg1"/>
                </a:solidFill>
              </a:rPr>
              <a:t>services</a:t>
            </a:r>
            <a:r>
              <a:rPr lang="pt-BR" dirty="0" smtClean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utilização </a:t>
            </a:r>
            <a:r>
              <a:rPr lang="pt-BR" dirty="0">
                <a:solidFill>
                  <a:schemeClr val="bg1"/>
                </a:solidFill>
              </a:rPr>
              <a:t>do R-</a:t>
            </a:r>
            <a:r>
              <a:rPr lang="pt-BR" dirty="0" err="1">
                <a:solidFill>
                  <a:schemeClr val="bg1"/>
                </a:solidFill>
              </a:rPr>
              <a:t>tree</a:t>
            </a:r>
            <a:r>
              <a:rPr lang="pt-BR" dirty="0" smtClean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utilização </a:t>
            </a:r>
            <a:r>
              <a:rPr lang="pt-BR" dirty="0">
                <a:solidFill>
                  <a:schemeClr val="bg1"/>
                </a:solidFill>
              </a:rPr>
              <a:t>de SHA-256</a:t>
            </a:r>
            <a:r>
              <a:rPr lang="pt-BR" dirty="0" smtClean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criação </a:t>
            </a:r>
            <a:r>
              <a:rPr lang="pt-BR" dirty="0">
                <a:solidFill>
                  <a:schemeClr val="bg1"/>
                </a:solidFill>
              </a:rPr>
              <a:t>de um nó de backup permanente.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170121" y="1635775"/>
            <a:ext cx="284952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b="1" dirty="0" smtClean="0">
                <a:solidFill>
                  <a:schemeClr val="bg1"/>
                </a:solidFill>
              </a:rPr>
              <a:t>1-  Metodologia</a:t>
            </a:r>
          </a:p>
          <a:p>
            <a:pPr algn="just"/>
            <a:endParaRPr lang="pt-BR" b="1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Foi seguida uma </a:t>
            </a:r>
            <a:r>
              <a:rPr lang="pt-BR" dirty="0" smtClean="0">
                <a:solidFill>
                  <a:schemeClr val="bg1"/>
                </a:solidFill>
              </a:rPr>
              <a:t>abordagem incremental.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O </a:t>
            </a:r>
            <a:r>
              <a:rPr lang="pt-BR" dirty="0">
                <a:solidFill>
                  <a:schemeClr val="bg1"/>
                </a:solidFill>
              </a:rPr>
              <a:t>projeto foi dividido em módulos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Cada </a:t>
            </a:r>
            <a:r>
              <a:rPr lang="pt-BR" dirty="0">
                <a:solidFill>
                  <a:schemeClr val="bg1"/>
                </a:solidFill>
              </a:rPr>
              <a:t>funcionalidade foi implementada e testada antes da </a:t>
            </a:r>
            <a:r>
              <a:rPr lang="pt-BR" dirty="0" smtClean="0">
                <a:solidFill>
                  <a:schemeClr val="bg1"/>
                </a:solidFill>
              </a:rPr>
              <a:t>seguinte. 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794746" y="1635775"/>
            <a:ext cx="276446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</a:rPr>
              <a:t>3-  Dificuldades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 smtClean="0">
                <a:solidFill>
                  <a:schemeClr val="bg1"/>
                </a:solidFill>
              </a:rPr>
              <a:t>As </a:t>
            </a:r>
            <a:r>
              <a:rPr lang="pt-BR" b="1" dirty="0">
                <a:solidFill>
                  <a:schemeClr val="bg1"/>
                </a:solidFill>
              </a:rPr>
              <a:t>principais dificuldades foram</a:t>
            </a:r>
            <a:r>
              <a:rPr lang="pt-BR" b="1" dirty="0" smtClean="0">
                <a:solidFill>
                  <a:schemeClr val="bg1"/>
                </a:solidFill>
              </a:rPr>
              <a:t>:</a:t>
            </a:r>
          </a:p>
          <a:p>
            <a:endParaRPr lang="pt-BR" b="1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implementação </a:t>
            </a:r>
            <a:r>
              <a:rPr lang="pt-BR" dirty="0">
                <a:solidFill>
                  <a:schemeClr val="bg1"/>
                </a:solidFill>
              </a:rPr>
              <a:t>da replicação</a:t>
            </a:r>
            <a:r>
              <a:rPr lang="pt-BR" dirty="0" smtClean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sincronização </a:t>
            </a:r>
            <a:r>
              <a:rPr lang="pt-BR" dirty="0">
                <a:solidFill>
                  <a:schemeClr val="bg1"/>
                </a:solidFill>
              </a:rPr>
              <a:t>entre nós</a:t>
            </a:r>
            <a:r>
              <a:rPr lang="pt-BR" dirty="0" smtClean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organização </a:t>
            </a:r>
            <a:r>
              <a:rPr lang="pt-BR" dirty="0">
                <a:solidFill>
                  <a:schemeClr val="bg1"/>
                </a:solidFill>
              </a:rPr>
              <a:t>da estrutura do projeto</a:t>
            </a:r>
            <a:r>
              <a:rPr lang="pt-BR" dirty="0" smtClean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integração </a:t>
            </a:r>
            <a:r>
              <a:rPr lang="pt-BR" dirty="0">
                <a:solidFill>
                  <a:schemeClr val="bg1"/>
                </a:solidFill>
              </a:rPr>
              <a:t>da base de dados </a:t>
            </a:r>
            <a:r>
              <a:rPr lang="pt-BR" dirty="0" smtClean="0">
                <a:solidFill>
                  <a:schemeClr val="bg1"/>
                </a:solidFill>
              </a:rPr>
              <a:t>espacial</a:t>
            </a:r>
            <a:r>
              <a:rPr lang="pt-BR" b="1" dirty="0" smtClean="0">
                <a:solidFill>
                  <a:schemeClr val="bg1"/>
                </a:solidFill>
              </a:rPr>
              <a:t>.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3072810" y="1635775"/>
            <a:ext cx="260497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</a:rPr>
              <a:t>2-  </a:t>
            </a:r>
            <a:r>
              <a:rPr lang="pt-BR" b="1" dirty="0">
                <a:solidFill>
                  <a:schemeClr val="bg1"/>
                </a:solidFill>
              </a:rPr>
              <a:t>Divisão de </a:t>
            </a:r>
            <a:r>
              <a:rPr lang="pt-BR" b="1" dirty="0" smtClean="0">
                <a:solidFill>
                  <a:schemeClr val="bg1"/>
                </a:solidFill>
              </a:rPr>
              <a:t>tarefas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 smtClean="0">
                <a:solidFill>
                  <a:schemeClr val="bg1"/>
                </a:solidFill>
              </a:rPr>
              <a:t>Cada </a:t>
            </a:r>
            <a:r>
              <a:rPr lang="pt-BR" b="1" dirty="0">
                <a:solidFill>
                  <a:schemeClr val="bg1"/>
                </a:solidFill>
              </a:rPr>
              <a:t>elemento da equipa ficou responsável por um conjunto de componentes, como</a:t>
            </a:r>
            <a:r>
              <a:rPr lang="pt-BR" b="1" dirty="0" smtClean="0">
                <a:solidFill>
                  <a:schemeClr val="bg1"/>
                </a:solidFill>
              </a:rPr>
              <a:t>:</a:t>
            </a:r>
          </a:p>
          <a:p>
            <a:endParaRPr lang="pt-BR" b="1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 smtClean="0">
                <a:solidFill>
                  <a:schemeClr val="bg1"/>
                </a:solidFill>
              </a:rPr>
              <a:t>Backend</a:t>
            </a:r>
            <a:r>
              <a:rPr lang="pt-BR" dirty="0" smtClean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Base </a:t>
            </a:r>
            <a:r>
              <a:rPr lang="pt-BR" dirty="0">
                <a:solidFill>
                  <a:schemeClr val="bg1"/>
                </a:solidFill>
              </a:rPr>
              <a:t>de Dados</a:t>
            </a:r>
            <a:r>
              <a:rPr lang="pt-BR" dirty="0" smtClean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Interface;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Sistema </a:t>
            </a:r>
            <a:r>
              <a:rPr lang="pt-BR" dirty="0">
                <a:solidFill>
                  <a:schemeClr val="bg1"/>
                </a:solidFill>
              </a:rPr>
              <a:t>Distribuído</a:t>
            </a:r>
            <a:r>
              <a:rPr lang="pt-BR" dirty="0" smtClean="0">
                <a:solidFill>
                  <a:schemeClr val="bg1"/>
                </a:solidFill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bg1"/>
                </a:solidFill>
              </a:rPr>
              <a:t>Testes.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922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69240" y="1859339"/>
            <a:ext cx="318203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1- O </a:t>
            </a:r>
            <a:r>
              <a:rPr lang="en-US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projeto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faz</a:t>
            </a:r>
            <a:endParaRPr lang="en-US" b="1" dirty="0" smtClean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Login;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Upload;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Download;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Pastas;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Pesquisa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Replicação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Backup;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Recuperação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Lixeira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Escolha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automática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do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nó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mais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próximo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Consulta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espacial.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530364" y="501133"/>
            <a:ext cx="61829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6. LIMITAÇÕES E MELHORIAS</a:t>
            </a:r>
            <a:endParaRPr lang="en-US" sz="32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621820" y="1859340"/>
            <a:ext cx="337440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2-  </a:t>
            </a:r>
            <a:r>
              <a:rPr lang="en-US" b="1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Limitações</a:t>
            </a:r>
            <a:endParaRPr lang="en-US" b="1" dirty="0" smtClean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just"/>
            <a:endParaRPr lang="en-US" b="1" dirty="0" smtClean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just"/>
            <a:r>
              <a:rPr lang="en-US" b="1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Atualmente</a:t>
            </a:r>
            <a:r>
              <a:rPr lang="en-US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:</a:t>
            </a:r>
          </a:p>
          <a:p>
            <a:pPr algn="just"/>
            <a:endParaRPr lang="en-US" b="1" dirty="0" smtClean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todos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os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nós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estão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na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mesma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máquina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os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nós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são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pastas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locais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não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existe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comunicação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por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rede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entre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servidores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verificação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automática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integridade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ainda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não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é </a:t>
            </a: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periódica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7676707" y="1859340"/>
            <a:ext cx="397657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3-  </a:t>
            </a:r>
            <a:r>
              <a:rPr lang="en-US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Melhorias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Futuras</a:t>
            </a:r>
            <a:endParaRPr lang="en-US" b="1" dirty="0" smtClean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US" b="1" dirty="0" smtClean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b="1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Pretende</a:t>
            </a:r>
            <a:r>
              <a:rPr lang="en-US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-se </a:t>
            </a:r>
            <a:r>
              <a:rPr lang="en-US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implementar</a:t>
            </a:r>
            <a:r>
              <a:rPr lang="en-US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:</a:t>
            </a:r>
          </a:p>
          <a:p>
            <a:endParaRPr lang="en-US" b="1" dirty="0" smtClean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servidores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distribuídos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reais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comunicação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HTTP entre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nós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sincronização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automática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monitorização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dos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nós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verificação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automática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de checksums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armazenamento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em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cloud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notificações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de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falhas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balanceamento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de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carga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36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32469" y="1434591"/>
            <a:ext cx="1156105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200" b="1" dirty="0" smtClean="0">
                <a:solidFill>
                  <a:schemeClr val="bg1"/>
                </a:solidFill>
              </a:rPr>
              <a:t>O </a:t>
            </a:r>
            <a:r>
              <a:rPr lang="pt-BR" sz="3200" b="1" dirty="0">
                <a:solidFill>
                  <a:schemeClr val="bg1"/>
                </a:solidFill>
              </a:rPr>
              <a:t>Mini </a:t>
            </a:r>
            <a:r>
              <a:rPr lang="pt-BR" sz="3200" b="1" dirty="0" err="1">
                <a:solidFill>
                  <a:schemeClr val="bg1"/>
                </a:solidFill>
              </a:rPr>
              <a:t>Dropbox</a:t>
            </a:r>
            <a:r>
              <a:rPr lang="pt-BR" sz="3200" b="1" dirty="0">
                <a:solidFill>
                  <a:schemeClr val="bg1"/>
                </a:solidFill>
              </a:rPr>
              <a:t> Distribuído demonstra como é possível integrar</a:t>
            </a:r>
            <a:r>
              <a:rPr lang="pt-BR" sz="3200" b="1" dirty="0" smtClean="0">
                <a:solidFill>
                  <a:schemeClr val="bg1"/>
                </a:solidFill>
              </a:rPr>
              <a:t>:  </a:t>
            </a:r>
            <a:r>
              <a:rPr lang="pt-BR" sz="3200" b="1" dirty="0">
                <a:solidFill>
                  <a:schemeClr val="bg1"/>
                </a:solidFill>
              </a:rPr>
              <a:t>armazenamento de ficheiros</a:t>
            </a:r>
            <a:r>
              <a:rPr lang="pt-BR" sz="3200" b="1" dirty="0" smtClean="0">
                <a:solidFill>
                  <a:schemeClr val="bg1"/>
                </a:solidFill>
              </a:rPr>
              <a:t>; </a:t>
            </a:r>
            <a:r>
              <a:rPr lang="pt-BR" sz="3200" b="1" dirty="0">
                <a:solidFill>
                  <a:schemeClr val="bg1"/>
                </a:solidFill>
              </a:rPr>
              <a:t>sistemas distribuídos</a:t>
            </a:r>
            <a:r>
              <a:rPr lang="pt-BR" sz="3200" b="1" dirty="0" smtClean="0">
                <a:solidFill>
                  <a:schemeClr val="bg1"/>
                </a:solidFill>
              </a:rPr>
              <a:t>; </a:t>
            </a:r>
            <a:r>
              <a:rPr lang="pt-BR" sz="3200" b="1" dirty="0">
                <a:solidFill>
                  <a:schemeClr val="bg1"/>
                </a:solidFill>
              </a:rPr>
              <a:t>replicação</a:t>
            </a:r>
            <a:r>
              <a:rPr lang="pt-BR" sz="3200" b="1" dirty="0" smtClean="0">
                <a:solidFill>
                  <a:schemeClr val="bg1"/>
                </a:solidFill>
              </a:rPr>
              <a:t>; </a:t>
            </a:r>
            <a:r>
              <a:rPr lang="pt-BR" sz="3200" b="1" dirty="0">
                <a:solidFill>
                  <a:schemeClr val="bg1"/>
                </a:solidFill>
              </a:rPr>
              <a:t>bases de dados espaciais</a:t>
            </a:r>
            <a:r>
              <a:rPr lang="pt-BR" sz="3200" b="1" dirty="0" smtClean="0">
                <a:solidFill>
                  <a:schemeClr val="bg1"/>
                </a:solidFill>
              </a:rPr>
              <a:t>; </a:t>
            </a:r>
            <a:r>
              <a:rPr lang="pt-BR" sz="3200" b="1" dirty="0">
                <a:solidFill>
                  <a:schemeClr val="bg1"/>
                </a:solidFill>
              </a:rPr>
              <a:t>recuperação de dados</a:t>
            </a:r>
            <a:r>
              <a:rPr lang="pt-BR" sz="3200" b="1" dirty="0" smtClean="0">
                <a:solidFill>
                  <a:schemeClr val="bg1"/>
                </a:solidFill>
              </a:rPr>
              <a:t>. Apesar </a:t>
            </a:r>
            <a:r>
              <a:rPr lang="pt-BR" sz="3200" b="1" dirty="0">
                <a:solidFill>
                  <a:schemeClr val="bg1"/>
                </a:solidFill>
              </a:rPr>
              <a:t>de ser uma simulação executada numa única máquina, a arquitetura foi desenvolvida para representar o funcionamento de um sistema distribuído real, evidenciando conceitos de disponibilidade, redundância e tolerância a falhas</a:t>
            </a:r>
            <a:r>
              <a:rPr lang="pt-BR" sz="3200" b="1" dirty="0" smtClean="0">
                <a:solidFill>
                  <a:schemeClr val="bg1"/>
                </a:solidFill>
              </a:rPr>
              <a:t>. O projeto demonstra que é possível desenvolver uma solução distribuída funcional utilizando tecnologias acessíveis, constituindo uma base para futuras implementações em ambientes reais.</a:t>
            </a:r>
            <a:endParaRPr lang="pt-BR" sz="3200" b="1" dirty="0">
              <a:solidFill>
                <a:schemeClr val="bg1"/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432469" y="373543"/>
            <a:ext cx="31675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7. CONCLUSÕES</a:t>
            </a:r>
            <a:endParaRPr lang="pt-BR" sz="28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250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0" y="1469338"/>
            <a:ext cx="12100561" cy="4942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600" kern="100" dirty="0">
                <a:solidFill>
                  <a:schemeClr val="bg1"/>
                </a:solidFill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Elmasri, R., &amp; Navathe, S. B. (2019). Sistemas de banco de dados (7ª ed.). Pearson.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600" kern="100" dirty="0">
                <a:solidFill>
                  <a:schemeClr val="bg1"/>
                </a:solidFill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Silberschatz, A., Korth, H. F., &amp; Sudarshan, S. (2020). Database system concepts (7th ed.). McGraw-Hill.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600" kern="100" dirty="0">
                <a:solidFill>
                  <a:schemeClr val="bg1"/>
                </a:solidFill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Rigaux, P., Scholl, M., &amp; Voisard, A. (2002). Spatial databases: With application to GIS. Morgan Kaufmann.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600" kern="100" dirty="0">
                <a:solidFill>
                  <a:schemeClr val="bg1"/>
                </a:solidFill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Shekhar, S., &amp; Chawla, S. (2003). Spatial databases: A tour. Prentice Hall.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600" kern="100" dirty="0">
                <a:solidFill>
                  <a:schemeClr val="bg1"/>
                </a:solidFill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PostGIS Project. (2026). PostGIS documentation. https://postgis.net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600" kern="100" dirty="0">
                <a:solidFill>
                  <a:schemeClr val="bg1"/>
                </a:solidFill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Longley, P. A., Goodchild, M. F., Maguire, D. J., &amp; Rhind, D. W. (2015). Geographic information systems and science (4th ed.). Wiley.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600" kern="100" dirty="0">
                <a:solidFill>
                  <a:schemeClr val="bg1"/>
                </a:solidFill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Coulouris, G., Dollimore, J., &amp; Kindberg, T. (2007). Sistemas distribuídos: Conceitos e projeto. Bookman.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600" kern="100" dirty="0">
                <a:solidFill>
                  <a:schemeClr val="bg1"/>
                </a:solidFill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Graebin, L. (2006). Armazenamento distribuído. Novo Hamburgo.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600" kern="100" dirty="0">
                <a:solidFill>
                  <a:schemeClr val="bg1"/>
                </a:solidFill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SlideShare. (s.d.). Sistemas de arquivos distribuídos [Apresentação]. https://www.slideshare.net/slideshow/si-sad-sistemas-de-arquivos-distribudos/75313294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600" kern="100" dirty="0">
                <a:solidFill>
                  <a:schemeClr val="bg1"/>
                </a:solidFill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SlideShare. (s.d.). Sistemas de arquivos distribuídos [Apresentação]. https://www.slideshare.net/slideshow/sd08-si-sistemas-de-arquivos-distribudos/21960518</a:t>
            </a:r>
          </a:p>
        </p:txBody>
      </p:sp>
      <p:sp>
        <p:nvSpPr>
          <p:cNvPr id="2" name="Retângulo 1"/>
          <p:cNvSpPr/>
          <p:nvPr/>
        </p:nvSpPr>
        <p:spPr>
          <a:xfrm>
            <a:off x="313410" y="369780"/>
            <a:ext cx="73228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200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8. REFERÊNCIAS BIBLIOGRÁFICAS</a:t>
            </a:r>
            <a:endParaRPr lang="pt-PT" sz="32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370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65229" y="2360148"/>
            <a:ext cx="9558779" cy="200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MS Gothic" panose="020B0609070205080204" pitchFamily="49" charset="-128"/>
                <a:cs typeface="+mn-cs"/>
              </a:rPr>
              <a:t>Muito obrigado pela atenção dispensada!!!</a:t>
            </a:r>
            <a:endParaRPr kumimoji="0" lang="pt-BR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MS Minch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044763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2696</Words>
  <Application>Microsoft Office PowerPoint</Application>
  <PresentationFormat>Widescreen</PresentationFormat>
  <Paragraphs>341</Paragraphs>
  <Slides>15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5" baseType="lpstr">
      <vt:lpstr>MS Gothic</vt:lpstr>
      <vt:lpstr>Arial</vt:lpstr>
      <vt:lpstr>Arial Rounded MT Bold</vt:lpstr>
      <vt:lpstr>Bookman Old Style</vt:lpstr>
      <vt:lpstr>Calibri</vt:lpstr>
      <vt:lpstr>Century Gothic</vt:lpstr>
      <vt:lpstr>MS Mincho</vt:lpstr>
      <vt:lpstr>Times New Roman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windows 10</dc:creator>
  <cp:lastModifiedBy>windows 10</cp:lastModifiedBy>
  <cp:revision>35</cp:revision>
  <dcterms:created xsi:type="dcterms:W3CDTF">2026-06-03T13:40:14Z</dcterms:created>
  <dcterms:modified xsi:type="dcterms:W3CDTF">2026-07-16T14:42:42Z</dcterms:modified>
</cp:coreProperties>
</file>